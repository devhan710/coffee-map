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아바라를 만든 황지환입니다. 아바라는 길 가다 카페를 고를 때, 내가 시킬 그 음료를 잘하는 가까운 집을 후기 검색 없이 지도에서 보게 하는 서비스입니다. 3분 동안 문제 하나, 해결 하나, 그리고 데모를 보여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페르소나는 대학 3학년 박하은입니다. 커피 덕후가 아니고, 길 위에서 지금 당장 한 곳을 정하려고 폰을 켜는 사람입니다. 네이버에는 별점과 거리는 있는데 이 메뉴를 잘하는 집이라는 정보가 없고, 블로그는 길고 글마다 추천이 다릅니다. 그래서 결국 눈에 보이는 집에 들어가 아메리카노를 시킵니다.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Must를 두 개로 줄였고, 오늘은 그중 하나인 내 위치만 말씀드리겠습니다. 지도가 중구 한가운데만 있으면 하은이에게는 남의 지도이기 때문입니다. 중요한 건 켜자마자 권한을 묻지 않는다는 점입니다. 버튼을 눌렀을 때만 묻고, 거절해도 지도와 검색은 그대로 동작합니다.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화면으로 30초만 보여 드리겠습니다. 지도가 먼저 뜨고, 내 위치 버튼을 누르면 그때 권한을 묻고 지도가 옮겨집니다. 집을 누르면 바텀시트로 대표 메뉴 하나와 후보 두 개가 나옵니다. 여기서 카톡으로 바로 보낼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단순합니다. Next.js 16 App Router가 카페 목록을 서버에서 읽어 화면에 넘기고, 집마다 전용 링크를 가집니다. Firebase는 Google 로그인과 Firestore를 맡아 찜과 좋아하는 음료를 계정에 붙입니다. 규칙은 자기 uid 문서만 읽고 쓰도록 막아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숫자로는 이렇습니다. 중구 카페 30곳을 직접 정리했고, 음료는 다섯 종류로 나눴습니다. 기획부터 배포까지 3주가 걸렸습니다. 그리고 강제 가입은 0회입니다. 로그인은 찜과 내 음료를 누를 때만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크게 배운 건 안 할 것을 먼저 적는 일이었습니다. Won't 목록을 아홉 개 적고 나서야 3주 안에 들어왔습니다. 권한은 버튼 뒤에 두고 거절해도 동작하게 만드는 것도 여기서 배웠습니다. 데이터는 로컬 JSON으로 먼저 시작하고, 사람만 Firestore에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다음으로는 카페 목록을 Firestore로 옮기고, 지도에 메뉴 사진 마커와 근거 숫자를 붙이려고 합니다. 주소는 화면에 있는 링크이고, 지금 바로 열어 보실 수 있습니다. 들어 주셔서 감사합니다. 질문 있으시면 편하게 말씀해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vanilla-latte-map.vercel.app/"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vanilla-latte-map.vercel.app/" TargetMode="External"/><Relationship Id="rId1" Type="http://schemas.openxmlformats.org/officeDocument/2006/relationships/image" Target="../media/image-4-1.png"/><Relationship Id="rId2" Type="http://schemas.openxmlformats.org/officeDocument/2006/relationships/image" Target="../media/image-4-1.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hyperlink" Target="https://vanilla-latte-map.vercel.app/" TargetMode="Externa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7AB"/>
        </a:solidFill>
      </p:bgPr>
    </p:bg>
    <p:spTree>
      <p:nvGrpSpPr>
        <p:cNvPr id="1" name=""/>
        <p:cNvGrpSpPr/>
        <p:nvPr/>
      </p:nvGrpSpPr>
      <p:grpSpPr>
        <a:xfrm>
          <a:off x="0" y="0"/>
          <a:ext cx="0" cy="0"/>
          <a:chOff x="0" y="0"/>
          <a:chExt cx="0" cy="0"/>
        </a:xfrm>
      </p:grpSpPr>
      <p:sp>
        <p:nvSpPr>
          <p:cNvPr id="3" name="Text 0"/>
          <p:cNvSpPr/>
          <p:nvPr/>
        </p:nvSpPr>
        <p:spPr>
          <a:xfrm>
            <a:off x="685800" y="777240"/>
            <a:ext cx="9144000" cy="320040"/>
          </a:xfrm>
          <a:prstGeom prst="rect">
            <a:avLst/>
          </a:prstGeom>
          <a:noFill/>
          <a:ln/>
        </p:spPr>
        <p:txBody>
          <a:bodyPr wrap="square" lIns="0" tIns="0" rIns="0" bIns="0" rtlCol="0" anchor="ctr"/>
          <a:lstStyle/>
          <a:p>
            <a:pPr indent="0" marL="0">
              <a:buNone/>
            </a:pPr>
            <a:r>
              <a:rPr lang="en-US" sz="1200" spc="300" kern="0" dirty="0">
                <a:solidFill>
                  <a:srgbClr val="C9DCF5"/>
                </a:solidFill>
                <a:latin typeface="Consolas" pitchFamily="34" charset="0"/>
                <a:ea typeface="Consolas" pitchFamily="34" charset="-122"/>
                <a:cs typeface="Consolas" pitchFamily="34" charset="-120"/>
              </a:rPr>
              <a:t>bootcamp final · mvp demo · 3 minutes</a:t>
            </a:r>
            <a:endParaRPr lang="en-US" sz="1200" dirty="0"/>
          </a:p>
        </p:txBody>
      </p:sp>
      <p:sp>
        <p:nvSpPr>
          <p:cNvPr id="4" name="Text 1"/>
          <p:cNvSpPr/>
          <p:nvPr/>
        </p:nvSpPr>
        <p:spPr>
          <a:xfrm>
            <a:off x="685800" y="1371600"/>
            <a:ext cx="11155680" cy="1600200"/>
          </a:xfrm>
          <a:prstGeom prst="rect">
            <a:avLst/>
          </a:prstGeom>
          <a:noFill/>
          <a:ln/>
        </p:spPr>
        <p:txBody>
          <a:bodyPr wrap="square" lIns="0" tIns="0" rIns="0" bIns="0" rtlCol="0" anchor="ctr"/>
          <a:lstStyle/>
          <a:p>
            <a:pPr indent="0" marL="0">
              <a:buNone/>
            </a:pPr>
            <a:r>
              <a:rPr lang="en-US" sz="8000" b="1" dirty="0">
                <a:solidFill>
                  <a:srgbClr val="FFFFFF"/>
                </a:solidFill>
                <a:latin typeface="IBM Plex Sans KR" pitchFamily="34" charset="0"/>
                <a:ea typeface="IBM Plex Sans KR" pitchFamily="34" charset="-122"/>
                <a:cs typeface="IBM Plex Sans KR" pitchFamily="34" charset="-120"/>
              </a:rPr>
              <a:t>아바라</a:t>
            </a:r>
            <a:endParaRPr lang="en-US" sz="8000" dirty="0"/>
          </a:p>
        </p:txBody>
      </p:sp>
      <p:sp>
        <p:nvSpPr>
          <p:cNvPr id="5" name="Text 2"/>
          <p:cNvSpPr/>
          <p:nvPr/>
        </p:nvSpPr>
        <p:spPr>
          <a:xfrm>
            <a:off x="685800" y="3017520"/>
            <a:ext cx="10881360" cy="822960"/>
          </a:xfrm>
          <a:prstGeom prst="rect">
            <a:avLst/>
          </a:prstGeom>
          <a:noFill/>
          <a:ln/>
        </p:spPr>
        <p:txBody>
          <a:bodyPr wrap="square" lIns="0" tIns="0" rIns="0" bIns="0" rtlCol="0" anchor="ctr"/>
          <a:lstStyle/>
          <a:p>
            <a:pPr indent="0" marL="0">
              <a:buNone/>
            </a:pPr>
            <a:r>
              <a:rPr lang="en-US" sz="3800" b="1" dirty="0">
                <a:solidFill>
                  <a:srgbClr val="C9DCF5"/>
                </a:solidFill>
                <a:latin typeface="IBM Plex Sans KR" pitchFamily="34" charset="0"/>
                <a:ea typeface="IBM Plex Sans KR" pitchFamily="34" charset="-122"/>
                <a:cs typeface="IBM Plex Sans KR" pitchFamily="34" charset="-120"/>
              </a:rPr>
              <a:t>Iced Vanilla Latte Map</a:t>
            </a:r>
            <a:endParaRPr lang="en-US" sz="3800" dirty="0"/>
          </a:p>
        </p:txBody>
      </p:sp>
      <p:sp>
        <p:nvSpPr>
          <p:cNvPr id="6" name="Shape 3"/>
          <p:cNvSpPr/>
          <p:nvPr/>
        </p:nvSpPr>
        <p:spPr>
          <a:xfrm>
            <a:off x="685800" y="4160520"/>
            <a:ext cx="10863072" cy="0"/>
          </a:xfrm>
          <a:prstGeom prst="line">
            <a:avLst/>
          </a:prstGeom>
          <a:noFill/>
          <a:ln w="12700">
            <a:solidFill>
              <a:srgbClr val="FFFFFF"/>
            </a:solidFill>
            <a:prstDash val="solid"/>
          </a:ln>
        </p:spPr>
      </p:sp>
      <p:sp>
        <p:nvSpPr>
          <p:cNvPr id="7" name="Text 4"/>
          <p:cNvSpPr/>
          <p:nvPr/>
        </p:nvSpPr>
        <p:spPr>
          <a:xfrm>
            <a:off x="685800" y="4407408"/>
            <a:ext cx="10515600" cy="411480"/>
          </a:xfrm>
          <a:prstGeom prst="rect">
            <a:avLst/>
          </a:prstGeom>
          <a:noFill/>
          <a:ln/>
        </p:spPr>
        <p:txBody>
          <a:bodyPr wrap="square" lIns="0" tIns="0" rIns="0" bIns="0" rtlCol="0" anchor="ctr"/>
          <a:lstStyle/>
          <a:p>
            <a:pPr indent="0" marL="0">
              <a:buNone/>
            </a:pPr>
            <a:r>
              <a:rPr lang="en-US" sz="1700" dirty="0">
                <a:solidFill>
                  <a:srgbClr val="FFFFFF"/>
                </a:solidFill>
                <a:latin typeface="IBM Plex Sans KR" pitchFamily="34" charset="0"/>
                <a:ea typeface="IBM Plex Sans KR" pitchFamily="34" charset="-122"/>
                <a:cs typeface="IBM Plex Sans KR" pitchFamily="34" charset="-120"/>
              </a:rPr>
              <a:t>길 위에서, 내가 시킬 그 음료를 잘하는 가까운 집을 후기 없이 한 화면에</a:t>
            </a:r>
            <a:endParaRPr lang="en-US" sz="1700" dirty="0"/>
          </a:p>
        </p:txBody>
      </p:sp>
      <p:sp>
        <p:nvSpPr>
          <p:cNvPr id="8" name="Text 5"/>
          <p:cNvSpPr/>
          <p:nvPr/>
        </p:nvSpPr>
        <p:spPr>
          <a:xfrm>
            <a:off x="685800" y="4983480"/>
            <a:ext cx="10058400" cy="320040"/>
          </a:xfrm>
          <a:prstGeom prst="rect">
            <a:avLst/>
          </a:prstGeom>
          <a:noFill/>
          <a:ln/>
        </p:spPr>
        <p:txBody>
          <a:bodyPr wrap="square" lIns="0" tIns="0" rIns="0" bIns="0" rtlCol="0" anchor="ctr"/>
          <a:lstStyle/>
          <a:p>
            <a:pPr indent="0" marL="0">
              <a:buNone/>
            </a:pPr>
            <a:r>
              <a:rPr lang="en-US" sz="1050" spc="200" kern="0" dirty="0">
                <a:solidFill>
                  <a:srgbClr val="C9DCF5"/>
                </a:solidFill>
                <a:latin typeface="Consolas" pitchFamily="34" charset="0"/>
                <a:ea typeface="Consolas" pitchFamily="34" charset="-122"/>
                <a:cs typeface="Consolas" pitchFamily="34" charset="-120"/>
              </a:rPr>
              <a:t>next.js · firebase · naver maps</a:t>
            </a:r>
            <a:endParaRPr lang="en-US" sz="1050" dirty="0"/>
          </a:p>
        </p:txBody>
      </p:sp>
      <p:sp>
        <p:nvSpPr>
          <p:cNvPr id="9" name="Text 6">
            <a:hlinkClick r:id="rId1" tooltip="아바라 열기"/>
          </p:cNvPr>
          <p:cNvSpPr/>
          <p:nvPr/>
        </p:nvSpPr>
        <p:spPr>
          <a:xfrm>
            <a:off x="685800" y="5989320"/>
            <a:ext cx="7315200" cy="320040"/>
          </a:xfrm>
          <a:prstGeom prst="rect">
            <a:avLst/>
          </a:prstGeom>
          <a:noFill/>
          <a:ln/>
        </p:spPr>
        <p:txBody>
          <a:bodyPr wrap="square" lIns="0" tIns="0" rIns="0" bIns="0" rtlCol="0" anchor="ctr"/>
          <a:lstStyle/>
          <a:p>
            <a:pPr indent="0" marL="0">
              <a:buNone/>
            </a:pPr>
            <a:r>
              <a:rPr lang="en-US" sz="1100" u="sng" dirty="0">
                <a:solidFill>
                  <a:srgbClr val="C9DCF5"/>
                </a:solidFill>
                <a:latin typeface="Consolas" pitchFamily="34" charset="0"/>
                <a:ea typeface="Consolas" pitchFamily="34" charset="-122"/>
                <a:cs typeface="Consolas" pitchFamily="34" charset="-120"/>
                <a:hlinkClick r:id="rId1" invalidUrl="" action="" tgtFrame="" tooltip="아바라 열기" history="1" highlightClick="0" endSnd="0">
                  <a:extLst>
                    <a:ext uri="{A12FA001-AC4F-418D-AE19-62706E023703}">
                      <ahyp:hlinkClr xmlns:ahyp="http://schemas.microsoft.com/office/drawing/2018/hyperlinkcolor" val="tx"/>
                    </a:ext>
                  </a:extLst>
                </a:hlinkClick>
              </a:rPr>
              <a:t>https://vanilla-latte-map.vercel.app/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0047AB"/>
          </a:solidFill>
          <a:ln/>
        </p:spPr>
      </p:sp>
      <p:sp>
        <p:nvSpPr>
          <p:cNvPr id="3" name="Text 1"/>
          <p:cNvSpPr/>
          <p:nvPr/>
        </p:nvSpPr>
        <p:spPr>
          <a:xfrm>
            <a:off x="685800" y="6446520"/>
            <a:ext cx="5029200" cy="274320"/>
          </a:xfrm>
          <a:prstGeom prst="rect">
            <a:avLst/>
          </a:prstGeom>
          <a:noFill/>
          <a:ln/>
        </p:spPr>
        <p:txBody>
          <a:bodyPr wrap="square" lIns="0" tIns="0" rIns="0" bIns="0" rtlCol="0" anchor="ctr"/>
          <a:lstStyle/>
          <a:p>
            <a:pPr indent="0" marL="0">
              <a:buNone/>
            </a:pPr>
            <a:r>
              <a:rPr lang="en-US" sz="900" spc="200" kern="0" dirty="0">
                <a:solidFill>
                  <a:srgbClr val="888888"/>
                </a:solidFill>
                <a:latin typeface="Consolas" pitchFamily="34" charset="0"/>
                <a:ea typeface="Consolas" pitchFamily="34" charset="-122"/>
                <a:cs typeface="Consolas" pitchFamily="34" charset="-120"/>
              </a:rPr>
              <a:t>abara — cafe menu map mvp</a:t>
            </a:r>
            <a:endParaRPr lang="en-US" sz="900" dirty="0"/>
          </a:p>
        </p:txBody>
      </p:sp>
      <p:sp>
        <p:nvSpPr>
          <p:cNvPr id="5" name="Text 2"/>
          <p:cNvSpPr/>
          <p:nvPr/>
        </p:nvSpPr>
        <p:spPr>
          <a:xfrm>
            <a:off x="685800" y="502920"/>
            <a:ext cx="9601200" cy="292608"/>
          </a:xfrm>
          <a:prstGeom prst="rect">
            <a:avLst/>
          </a:prstGeom>
          <a:noFill/>
          <a:ln/>
        </p:spPr>
        <p:txBody>
          <a:bodyPr wrap="square" lIns="0" tIns="0" rIns="0" bIns="0" rtlCol="0" anchor="ctr"/>
          <a:lstStyle/>
          <a:p>
            <a:pPr indent="0" marL="0">
              <a:buNone/>
            </a:pPr>
            <a:r>
              <a:rPr lang="en-US" sz="1100" spc="300" kern="0" dirty="0">
                <a:solidFill>
                  <a:srgbClr val="0047AB"/>
                </a:solidFill>
                <a:latin typeface="Consolas" pitchFamily="34" charset="0"/>
                <a:ea typeface="Consolas" pitchFamily="34" charset="-122"/>
                <a:cs typeface="Consolas" pitchFamily="34" charset="-120"/>
              </a:rPr>
              <a:t>problem · persona</a:t>
            </a:r>
            <a:endParaRPr lang="en-US" sz="1100" dirty="0"/>
          </a:p>
        </p:txBody>
      </p:sp>
      <p:sp>
        <p:nvSpPr>
          <p:cNvPr id="6" name="Text 3"/>
          <p:cNvSpPr/>
          <p:nvPr/>
        </p:nvSpPr>
        <p:spPr>
          <a:xfrm>
            <a:off x="685800" y="841248"/>
            <a:ext cx="10881360" cy="640080"/>
          </a:xfrm>
          <a:prstGeom prst="rect">
            <a:avLst/>
          </a:prstGeom>
          <a:noFill/>
          <a:ln/>
        </p:spPr>
        <p:txBody>
          <a:bodyPr wrap="square" lIns="0" tIns="0" rIns="0" bIns="0" rtlCol="0" anchor="ctr"/>
          <a:lstStyle/>
          <a:p>
            <a:pPr indent="0" marL="0">
              <a:buNone/>
            </a:pPr>
            <a:r>
              <a:rPr lang="en-US" sz="2800" b="1" dirty="0">
                <a:solidFill>
                  <a:srgbClr val="111111"/>
                </a:solidFill>
                <a:latin typeface="IBM Plex Sans KR" pitchFamily="34" charset="0"/>
                <a:ea typeface="IBM Plex Sans KR" pitchFamily="34" charset="-122"/>
                <a:cs typeface="IBM Plex Sans KR" pitchFamily="34" charset="-120"/>
              </a:rPr>
              <a:t>박하은, 23세 — 길 위에서 3초</a:t>
            </a:r>
            <a:endParaRPr lang="en-US" sz="2800" dirty="0"/>
          </a:p>
        </p:txBody>
      </p:sp>
      <p:sp>
        <p:nvSpPr>
          <p:cNvPr id="7" name="Shape 4"/>
          <p:cNvSpPr/>
          <p:nvPr/>
        </p:nvSpPr>
        <p:spPr>
          <a:xfrm>
            <a:off x="685800" y="1627632"/>
            <a:ext cx="10863072" cy="0"/>
          </a:xfrm>
          <a:prstGeom prst="line">
            <a:avLst/>
          </a:prstGeom>
          <a:noFill/>
          <a:ln w="12700">
            <a:solidFill>
              <a:srgbClr val="DDDDDD"/>
            </a:solidFill>
            <a:prstDash val="solid"/>
          </a:ln>
        </p:spPr>
      </p:sp>
      <p:sp>
        <p:nvSpPr>
          <p:cNvPr id="8" name="Shape 5"/>
          <p:cNvSpPr/>
          <p:nvPr/>
        </p:nvSpPr>
        <p:spPr>
          <a:xfrm>
            <a:off x="685800" y="1965960"/>
            <a:ext cx="10863072" cy="1097280"/>
          </a:xfrm>
          <a:prstGeom prst="rect">
            <a:avLst/>
          </a:prstGeom>
          <a:solidFill>
            <a:srgbClr val="F5F7FA"/>
          </a:solidFill>
          <a:ln w="12700">
            <a:solidFill>
              <a:srgbClr val="DDDDDD"/>
            </a:solidFill>
            <a:prstDash val="solid"/>
          </a:ln>
        </p:spPr>
      </p:sp>
      <p:sp>
        <p:nvSpPr>
          <p:cNvPr id="9" name="Text 6"/>
          <p:cNvSpPr/>
          <p:nvPr/>
        </p:nvSpPr>
        <p:spPr>
          <a:xfrm>
            <a:off x="1051560" y="2267712"/>
            <a:ext cx="10241280" cy="502920"/>
          </a:xfrm>
          <a:prstGeom prst="rect">
            <a:avLst/>
          </a:prstGeom>
          <a:noFill/>
          <a:ln/>
        </p:spPr>
        <p:txBody>
          <a:bodyPr wrap="square" lIns="0" tIns="0" rIns="0" bIns="0" rtlCol="0" anchor="ctr"/>
          <a:lstStyle/>
          <a:p>
            <a:pPr indent="0" marL="0">
              <a:buNone/>
            </a:pPr>
            <a:r>
              <a:rPr lang="en-US" sz="2400" b="1" dirty="0">
                <a:solidFill>
                  <a:srgbClr val="0047AB"/>
                </a:solidFill>
                <a:latin typeface="IBM Plex Sans KR" pitchFamily="34" charset="0"/>
                <a:ea typeface="IBM Plex Sans KR" pitchFamily="34" charset="-122"/>
                <a:cs typeface="IBM Plex Sans KR" pitchFamily="34" charset="-120"/>
              </a:rPr>
              <a:t>“지금 여기서 어디 갈지 정하는 데, 5분은 못 쓴다.”</a:t>
            </a:r>
            <a:endParaRPr lang="en-US" sz="2400" dirty="0"/>
          </a:p>
        </p:txBody>
      </p:sp>
      <p:pic>
        <p:nvPicPr>
          <p:cNvPr id="10" name="Image 0" descr="icons/search.png">    </p:cNvPr>
          <p:cNvPicPr>
            <a:picLocks noChangeAspect="1"/>
          </p:cNvPicPr>
          <p:nvPr/>
        </p:nvPicPr>
        <p:blipFill>
          <a:blip r:embed="rId1"/>
          <a:stretch>
            <a:fillRect/>
          </a:stretch>
        </p:blipFill>
        <p:spPr>
          <a:xfrm>
            <a:off x="685800" y="3675888"/>
            <a:ext cx="292608" cy="292608"/>
          </a:xfrm>
          <a:prstGeom prst="rect">
            <a:avLst/>
          </a:prstGeom>
        </p:spPr>
      </p:pic>
      <p:sp>
        <p:nvSpPr>
          <p:cNvPr id="11" name="Text 7"/>
          <p:cNvSpPr/>
          <p:nvPr/>
        </p:nvSpPr>
        <p:spPr>
          <a:xfrm>
            <a:off x="1097280" y="3657600"/>
            <a:ext cx="2990088" cy="347472"/>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별점은 있는데</a:t>
            </a:r>
            <a:endParaRPr lang="en-US" sz="1500" dirty="0"/>
          </a:p>
        </p:txBody>
      </p:sp>
      <p:sp>
        <p:nvSpPr>
          <p:cNvPr id="12" name="Text 8"/>
          <p:cNvSpPr/>
          <p:nvPr/>
        </p:nvSpPr>
        <p:spPr>
          <a:xfrm>
            <a:off x="1097280" y="4059936"/>
            <a:ext cx="2990088" cy="548640"/>
          </a:xfrm>
          <a:prstGeom prst="rect">
            <a:avLst/>
          </a:prstGeom>
          <a:noFill/>
          <a:ln/>
        </p:spPr>
        <p:txBody>
          <a:bodyPr wrap="square" lIns="0" tIns="0" rIns="0" bIns="0" rtlCol="0" anchor="ctr"/>
          <a:lstStyle/>
          <a:p>
            <a:pPr indent="0" marL="0">
              <a:buNone/>
            </a:pPr>
            <a:r>
              <a:rPr lang="en-US" sz="1250" dirty="0">
                <a:solidFill>
                  <a:srgbClr val="888888"/>
                </a:solidFill>
                <a:latin typeface="IBM Plex Sans KR" pitchFamily="34" charset="0"/>
                <a:ea typeface="IBM Plex Sans KR" pitchFamily="34" charset="-122"/>
                <a:cs typeface="IBM Plex Sans KR" pitchFamily="34" charset="-120"/>
              </a:rPr>
              <a:t>‘이 메뉴 잘하는 집’은 없다</a:t>
            </a:r>
            <a:endParaRPr lang="en-US" sz="1250" dirty="0"/>
          </a:p>
        </p:txBody>
      </p:sp>
      <p:pic>
        <p:nvPicPr>
          <p:cNvPr id="13" name="Image 1" descr="icons/file-text.png">    </p:cNvPr>
          <p:cNvPicPr>
            <a:picLocks noChangeAspect="1"/>
          </p:cNvPicPr>
          <p:nvPr/>
        </p:nvPicPr>
        <p:blipFill>
          <a:blip r:embed="rId2"/>
          <a:stretch>
            <a:fillRect/>
          </a:stretch>
        </p:blipFill>
        <p:spPr>
          <a:xfrm>
            <a:off x="4306824" y="3675888"/>
            <a:ext cx="292608" cy="292608"/>
          </a:xfrm>
          <a:prstGeom prst="rect">
            <a:avLst/>
          </a:prstGeom>
        </p:spPr>
      </p:pic>
      <p:sp>
        <p:nvSpPr>
          <p:cNvPr id="14" name="Text 9"/>
          <p:cNvSpPr/>
          <p:nvPr/>
        </p:nvSpPr>
        <p:spPr>
          <a:xfrm>
            <a:off x="4718304" y="3657600"/>
            <a:ext cx="2990088" cy="347472"/>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블로그는 길고</a:t>
            </a:r>
            <a:endParaRPr lang="en-US" sz="1500" dirty="0"/>
          </a:p>
        </p:txBody>
      </p:sp>
      <p:sp>
        <p:nvSpPr>
          <p:cNvPr id="15" name="Text 10"/>
          <p:cNvSpPr/>
          <p:nvPr/>
        </p:nvSpPr>
        <p:spPr>
          <a:xfrm>
            <a:off x="4718304" y="4059936"/>
            <a:ext cx="2990088" cy="548640"/>
          </a:xfrm>
          <a:prstGeom prst="rect">
            <a:avLst/>
          </a:prstGeom>
          <a:noFill/>
          <a:ln/>
        </p:spPr>
        <p:txBody>
          <a:bodyPr wrap="square" lIns="0" tIns="0" rIns="0" bIns="0" rtlCol="0" anchor="ctr"/>
          <a:lstStyle/>
          <a:p>
            <a:pPr indent="0" marL="0">
              <a:buNone/>
            </a:pPr>
            <a:r>
              <a:rPr lang="en-US" sz="1250" dirty="0">
                <a:solidFill>
                  <a:srgbClr val="888888"/>
                </a:solidFill>
                <a:latin typeface="IBM Plex Sans KR" pitchFamily="34" charset="0"/>
                <a:ea typeface="IBM Plex Sans KR" pitchFamily="34" charset="-122"/>
                <a:cs typeface="IBM Plex Sans KR" pitchFamily="34" charset="-120"/>
              </a:rPr>
              <a:t>글마다 추천이 다르다</a:t>
            </a:r>
            <a:endParaRPr lang="en-US" sz="1250" dirty="0"/>
          </a:p>
        </p:txBody>
      </p:sp>
      <p:pic>
        <p:nvPicPr>
          <p:cNvPr id="16" name="Image 2" descr="icons/hand.png">    </p:cNvPr>
          <p:cNvPicPr>
            <a:picLocks noChangeAspect="1"/>
          </p:cNvPicPr>
          <p:nvPr/>
        </p:nvPicPr>
        <p:blipFill>
          <a:blip r:embed="rId3"/>
          <a:stretch>
            <a:fillRect/>
          </a:stretch>
        </p:blipFill>
        <p:spPr>
          <a:xfrm>
            <a:off x="7927848" y="3675888"/>
            <a:ext cx="292608" cy="292608"/>
          </a:xfrm>
          <a:prstGeom prst="rect">
            <a:avLst/>
          </a:prstGeom>
        </p:spPr>
      </p:pic>
      <p:sp>
        <p:nvSpPr>
          <p:cNvPr id="17" name="Text 11"/>
          <p:cNvSpPr/>
          <p:nvPr/>
        </p:nvSpPr>
        <p:spPr>
          <a:xfrm>
            <a:off x="8339328" y="3657600"/>
            <a:ext cx="2990088" cy="347472"/>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그래서 결국</a:t>
            </a:r>
            <a:endParaRPr lang="en-US" sz="1500" dirty="0"/>
          </a:p>
        </p:txBody>
      </p:sp>
      <p:sp>
        <p:nvSpPr>
          <p:cNvPr id="18" name="Text 12"/>
          <p:cNvSpPr/>
          <p:nvPr/>
        </p:nvSpPr>
        <p:spPr>
          <a:xfrm>
            <a:off x="8339328" y="4059936"/>
            <a:ext cx="2990088" cy="548640"/>
          </a:xfrm>
          <a:prstGeom prst="rect">
            <a:avLst/>
          </a:prstGeom>
          <a:noFill/>
          <a:ln/>
        </p:spPr>
        <p:txBody>
          <a:bodyPr wrap="square" lIns="0" tIns="0" rIns="0" bIns="0" rtlCol="0" anchor="ctr"/>
          <a:lstStyle/>
          <a:p>
            <a:pPr indent="0" marL="0">
              <a:buNone/>
            </a:pPr>
            <a:r>
              <a:rPr lang="en-US" sz="1250" dirty="0">
                <a:solidFill>
                  <a:srgbClr val="888888"/>
                </a:solidFill>
                <a:latin typeface="IBM Plex Sans KR" pitchFamily="34" charset="0"/>
                <a:ea typeface="IBM Plex Sans KR" pitchFamily="34" charset="-122"/>
                <a:cs typeface="IBM Plex Sans KR" pitchFamily="34" charset="-120"/>
              </a:rPr>
              <a:t>눈에 보이는 집, 아메리카노</a:t>
            </a:r>
            <a:endParaRPr lang="en-US" sz="1250" dirty="0"/>
          </a:p>
        </p:txBody>
      </p:sp>
      <p:sp>
        <p:nvSpPr>
          <p:cNvPr id="19" name="Text 13"/>
          <p:cNvSpPr/>
          <p:nvPr/>
        </p:nvSpPr>
        <p:spPr>
          <a:xfrm>
            <a:off x="685800" y="5166360"/>
            <a:ext cx="10515600" cy="365760"/>
          </a:xfrm>
          <a:prstGeom prst="rect">
            <a:avLst/>
          </a:prstGeom>
          <a:noFill/>
          <a:ln/>
        </p:spPr>
        <p:txBody>
          <a:bodyPr wrap="square" lIns="0" tIns="0" rIns="0" bIns="0" rtlCol="0" anchor="ctr"/>
          <a:lstStyle/>
          <a:p>
            <a:pPr indent="0" marL="0">
              <a:buNone/>
            </a:pPr>
            <a:r>
              <a:rPr lang="en-US" sz="1250" spc="100" kern="0" dirty="0">
                <a:solidFill>
                  <a:srgbClr val="0047AB"/>
                </a:solidFill>
                <a:latin typeface="Consolas" pitchFamily="34" charset="0"/>
                <a:ea typeface="Consolas" pitchFamily="34" charset="-122"/>
                <a:cs typeface="Consolas" pitchFamily="34" charset="-120"/>
              </a:rPr>
              <a:t>→ 내 자리와 메뉴가 3초 안에 안 뜨면, 앱을 끈다</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0047AB"/>
          </a:solidFill>
          <a:ln/>
        </p:spPr>
      </p:sp>
      <p:sp>
        <p:nvSpPr>
          <p:cNvPr id="3" name="Text 1"/>
          <p:cNvSpPr/>
          <p:nvPr/>
        </p:nvSpPr>
        <p:spPr>
          <a:xfrm>
            <a:off x="685800" y="6446520"/>
            <a:ext cx="5029200" cy="274320"/>
          </a:xfrm>
          <a:prstGeom prst="rect">
            <a:avLst/>
          </a:prstGeom>
          <a:noFill/>
          <a:ln/>
        </p:spPr>
        <p:txBody>
          <a:bodyPr wrap="square" lIns="0" tIns="0" rIns="0" bIns="0" rtlCol="0" anchor="ctr"/>
          <a:lstStyle/>
          <a:p>
            <a:pPr indent="0" marL="0">
              <a:buNone/>
            </a:pPr>
            <a:r>
              <a:rPr lang="en-US" sz="900" spc="200" kern="0" dirty="0">
                <a:solidFill>
                  <a:srgbClr val="888888"/>
                </a:solidFill>
                <a:latin typeface="Consolas" pitchFamily="34" charset="0"/>
                <a:ea typeface="Consolas" pitchFamily="34" charset="-122"/>
                <a:cs typeface="Consolas" pitchFamily="34" charset="-120"/>
              </a:rPr>
              <a:t>abara — cafe menu map mvp</a:t>
            </a:r>
            <a:endParaRPr lang="en-US" sz="900" dirty="0"/>
          </a:p>
        </p:txBody>
      </p:sp>
      <p:sp>
        <p:nvSpPr>
          <p:cNvPr id="5" name="Text 2"/>
          <p:cNvSpPr/>
          <p:nvPr/>
        </p:nvSpPr>
        <p:spPr>
          <a:xfrm>
            <a:off x="685800" y="502920"/>
            <a:ext cx="9601200" cy="292608"/>
          </a:xfrm>
          <a:prstGeom prst="rect">
            <a:avLst/>
          </a:prstGeom>
          <a:noFill/>
          <a:ln/>
        </p:spPr>
        <p:txBody>
          <a:bodyPr wrap="square" lIns="0" tIns="0" rIns="0" bIns="0" rtlCol="0" anchor="ctr"/>
          <a:lstStyle/>
          <a:p>
            <a:pPr indent="0" marL="0">
              <a:buNone/>
            </a:pPr>
            <a:r>
              <a:rPr lang="en-US" sz="1100" spc="300" kern="0" dirty="0">
                <a:solidFill>
                  <a:srgbClr val="0047AB"/>
                </a:solidFill>
                <a:latin typeface="Consolas" pitchFamily="34" charset="0"/>
                <a:ea typeface="Consolas" pitchFamily="34" charset="-122"/>
                <a:cs typeface="Consolas" pitchFamily="34" charset="-120"/>
              </a:rPr>
              <a:t>solution · one must have</a:t>
            </a:r>
            <a:endParaRPr lang="en-US" sz="1100" dirty="0"/>
          </a:p>
        </p:txBody>
      </p:sp>
      <p:sp>
        <p:nvSpPr>
          <p:cNvPr id="6" name="Text 3"/>
          <p:cNvSpPr/>
          <p:nvPr/>
        </p:nvSpPr>
        <p:spPr>
          <a:xfrm>
            <a:off x="685800" y="841248"/>
            <a:ext cx="10881360" cy="640080"/>
          </a:xfrm>
          <a:prstGeom prst="rect">
            <a:avLst/>
          </a:prstGeom>
          <a:noFill/>
          <a:ln/>
        </p:spPr>
        <p:txBody>
          <a:bodyPr wrap="square" lIns="0" tIns="0" rIns="0" bIns="0" rtlCol="0" anchor="ctr"/>
          <a:lstStyle/>
          <a:p>
            <a:pPr indent="0" marL="0">
              <a:buNone/>
            </a:pPr>
            <a:r>
              <a:rPr lang="en-US" sz="2800" b="1" dirty="0">
                <a:solidFill>
                  <a:srgbClr val="111111"/>
                </a:solidFill>
                <a:latin typeface="IBM Plex Sans KR" pitchFamily="34" charset="0"/>
                <a:ea typeface="IBM Plex Sans KR" pitchFamily="34" charset="-122"/>
                <a:cs typeface="IBM Plex Sans KR" pitchFamily="34" charset="-120"/>
              </a:rPr>
              <a:t>Must 하나 — 내 위치</a:t>
            </a:r>
            <a:endParaRPr lang="en-US" sz="2800" dirty="0"/>
          </a:p>
        </p:txBody>
      </p:sp>
      <p:sp>
        <p:nvSpPr>
          <p:cNvPr id="7" name="Shape 4"/>
          <p:cNvSpPr/>
          <p:nvPr/>
        </p:nvSpPr>
        <p:spPr>
          <a:xfrm>
            <a:off x="685800" y="1627632"/>
            <a:ext cx="10863072" cy="0"/>
          </a:xfrm>
          <a:prstGeom prst="line">
            <a:avLst/>
          </a:prstGeom>
          <a:noFill/>
          <a:ln w="12700">
            <a:solidFill>
              <a:srgbClr val="DDDDDD"/>
            </a:solidFill>
            <a:prstDash val="solid"/>
          </a:ln>
        </p:spPr>
      </p:sp>
      <p:sp>
        <p:nvSpPr>
          <p:cNvPr id="8" name="Text 5"/>
          <p:cNvSpPr/>
          <p:nvPr/>
        </p:nvSpPr>
        <p:spPr>
          <a:xfrm>
            <a:off x="685800" y="1938528"/>
            <a:ext cx="10515600" cy="502920"/>
          </a:xfrm>
          <a:prstGeom prst="rect">
            <a:avLst/>
          </a:prstGeom>
          <a:noFill/>
          <a:ln/>
        </p:spPr>
        <p:txBody>
          <a:bodyPr wrap="square" lIns="0" tIns="0" rIns="0" bIns="0" rtlCol="0" anchor="ctr"/>
          <a:lstStyle/>
          <a:p>
            <a:pPr indent="0" marL="0">
              <a:buNone/>
            </a:pPr>
            <a:r>
              <a:rPr lang="en-US" sz="2600" b="1" dirty="0">
                <a:solidFill>
                  <a:srgbClr val="111111"/>
                </a:solidFill>
                <a:latin typeface="IBM Plex Sans KR" pitchFamily="34" charset="0"/>
                <a:ea typeface="IBM Plex Sans KR" pitchFamily="34" charset="-122"/>
                <a:cs typeface="IBM Plex Sans KR" pitchFamily="34" charset="-120"/>
              </a:rPr>
              <a:t>버튼을 누르면, 지도가 내 자리로 온다.</a:t>
            </a:r>
            <a:endParaRPr lang="en-US" sz="2600" dirty="0"/>
          </a:p>
        </p:txBody>
      </p:sp>
      <p:sp>
        <p:nvSpPr>
          <p:cNvPr id="9" name="Shape 6"/>
          <p:cNvSpPr/>
          <p:nvPr/>
        </p:nvSpPr>
        <p:spPr>
          <a:xfrm>
            <a:off x="685800" y="2834640"/>
            <a:ext cx="3401568" cy="1783080"/>
          </a:xfrm>
          <a:prstGeom prst="rect">
            <a:avLst/>
          </a:prstGeom>
          <a:solidFill>
            <a:srgbClr val="F5F7FA"/>
          </a:solidFill>
          <a:ln w="12700">
            <a:solidFill>
              <a:srgbClr val="DDDDDD"/>
            </a:solidFill>
            <a:prstDash val="solid"/>
          </a:ln>
        </p:spPr>
      </p:sp>
      <p:sp>
        <p:nvSpPr>
          <p:cNvPr id="10" name="Text 7"/>
          <p:cNvSpPr/>
          <p:nvPr/>
        </p:nvSpPr>
        <p:spPr>
          <a:xfrm>
            <a:off x="886968" y="2999232"/>
            <a:ext cx="914400" cy="256032"/>
          </a:xfrm>
          <a:prstGeom prst="rect">
            <a:avLst/>
          </a:prstGeom>
          <a:noFill/>
          <a:ln/>
        </p:spPr>
        <p:txBody>
          <a:bodyPr wrap="square" lIns="0" tIns="0" rIns="0" bIns="0" rtlCol="0" anchor="ctr"/>
          <a:lstStyle/>
          <a:p>
            <a:pPr indent="0" marL="0">
              <a:buNone/>
            </a:pPr>
            <a:r>
              <a:rPr lang="en-US" sz="1050" spc="200" kern="0" dirty="0">
                <a:solidFill>
                  <a:srgbClr val="0047AB"/>
                </a:solidFill>
                <a:latin typeface="Consolas" pitchFamily="34" charset="0"/>
                <a:ea typeface="Consolas" pitchFamily="34" charset="-122"/>
                <a:cs typeface="Consolas" pitchFamily="34" charset="-120"/>
              </a:rPr>
              <a:t>01</a:t>
            </a:r>
            <a:endParaRPr lang="en-US" sz="1050" dirty="0"/>
          </a:p>
        </p:txBody>
      </p:sp>
      <p:pic>
        <p:nvPicPr>
          <p:cNvPr id="11" name="Image 0" descr="icons/hand.png">    </p:cNvPr>
          <p:cNvPicPr>
            <a:picLocks noChangeAspect="1"/>
          </p:cNvPicPr>
          <p:nvPr/>
        </p:nvPicPr>
        <p:blipFill>
          <a:blip r:embed="rId1"/>
          <a:stretch>
            <a:fillRect/>
          </a:stretch>
        </p:blipFill>
        <p:spPr>
          <a:xfrm>
            <a:off x="3575304" y="2999232"/>
            <a:ext cx="292608" cy="292608"/>
          </a:xfrm>
          <a:prstGeom prst="rect">
            <a:avLst/>
          </a:prstGeom>
        </p:spPr>
      </p:pic>
      <p:sp>
        <p:nvSpPr>
          <p:cNvPr id="12" name="Text 8"/>
          <p:cNvSpPr/>
          <p:nvPr/>
        </p:nvSpPr>
        <p:spPr>
          <a:xfrm>
            <a:off x="886968" y="3310128"/>
            <a:ext cx="2944368" cy="329184"/>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먼저 묻지 않는다</a:t>
            </a:r>
            <a:endParaRPr lang="en-US" sz="1500" dirty="0"/>
          </a:p>
        </p:txBody>
      </p:sp>
      <p:sp>
        <p:nvSpPr>
          <p:cNvPr id="13" name="Text 9"/>
          <p:cNvSpPr/>
          <p:nvPr/>
        </p:nvSpPr>
        <p:spPr>
          <a:xfrm>
            <a:off x="886968" y="3694176"/>
            <a:ext cx="2999232" cy="777240"/>
          </a:xfrm>
          <a:prstGeom prst="rect">
            <a:avLst/>
          </a:prstGeom>
          <a:noFill/>
          <a:ln/>
        </p:spPr>
        <p:txBody>
          <a:bodyPr wrap="square" lIns="0" tIns="0" rIns="0" bIns="0" rtlCol="0" anchor="t"/>
          <a:lstStyle/>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켜자마자 권한을 묻지 않는다.</a:t>
            </a:r>
            <a:endParaRPr lang="en-US" sz="1100" dirty="0"/>
          </a:p>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‘내 위치’를 눌렀을 때만 묻는다.</a:t>
            </a:r>
            <a:endParaRPr lang="en-US" sz="1100" dirty="0"/>
          </a:p>
        </p:txBody>
      </p:sp>
      <p:sp>
        <p:nvSpPr>
          <p:cNvPr id="14" name="Shape 10"/>
          <p:cNvSpPr/>
          <p:nvPr/>
        </p:nvSpPr>
        <p:spPr>
          <a:xfrm>
            <a:off x="4306824" y="2834640"/>
            <a:ext cx="3401568" cy="1783080"/>
          </a:xfrm>
          <a:prstGeom prst="rect">
            <a:avLst/>
          </a:prstGeom>
          <a:solidFill>
            <a:srgbClr val="F5F7FA"/>
          </a:solidFill>
          <a:ln w="12700">
            <a:solidFill>
              <a:srgbClr val="DDDDDD"/>
            </a:solidFill>
            <a:prstDash val="solid"/>
          </a:ln>
        </p:spPr>
      </p:sp>
      <p:sp>
        <p:nvSpPr>
          <p:cNvPr id="15" name="Text 11"/>
          <p:cNvSpPr/>
          <p:nvPr/>
        </p:nvSpPr>
        <p:spPr>
          <a:xfrm>
            <a:off x="4507992" y="2999232"/>
            <a:ext cx="914400" cy="256032"/>
          </a:xfrm>
          <a:prstGeom prst="rect">
            <a:avLst/>
          </a:prstGeom>
          <a:noFill/>
          <a:ln/>
        </p:spPr>
        <p:txBody>
          <a:bodyPr wrap="square" lIns="0" tIns="0" rIns="0" bIns="0" rtlCol="0" anchor="ctr"/>
          <a:lstStyle/>
          <a:p>
            <a:pPr indent="0" marL="0">
              <a:buNone/>
            </a:pPr>
            <a:r>
              <a:rPr lang="en-US" sz="1050" spc="200" kern="0" dirty="0">
                <a:solidFill>
                  <a:srgbClr val="0047AB"/>
                </a:solidFill>
                <a:latin typeface="Consolas" pitchFamily="34" charset="0"/>
                <a:ea typeface="Consolas" pitchFamily="34" charset="-122"/>
                <a:cs typeface="Consolas" pitchFamily="34" charset="-120"/>
              </a:rPr>
              <a:t>02</a:t>
            </a:r>
            <a:endParaRPr lang="en-US" sz="1050" dirty="0"/>
          </a:p>
        </p:txBody>
      </p:sp>
      <p:pic>
        <p:nvPicPr>
          <p:cNvPr id="16" name="Image 1" descr="icons/check.png">    </p:cNvPr>
          <p:cNvPicPr>
            <a:picLocks noChangeAspect="1"/>
          </p:cNvPicPr>
          <p:nvPr/>
        </p:nvPicPr>
        <p:blipFill>
          <a:blip r:embed="rId2"/>
          <a:stretch>
            <a:fillRect/>
          </a:stretch>
        </p:blipFill>
        <p:spPr>
          <a:xfrm>
            <a:off x="7196328" y="2999232"/>
            <a:ext cx="292608" cy="292608"/>
          </a:xfrm>
          <a:prstGeom prst="rect">
            <a:avLst/>
          </a:prstGeom>
        </p:spPr>
      </p:pic>
      <p:sp>
        <p:nvSpPr>
          <p:cNvPr id="17" name="Text 12"/>
          <p:cNvSpPr/>
          <p:nvPr/>
        </p:nvSpPr>
        <p:spPr>
          <a:xfrm>
            <a:off x="4507992" y="3310128"/>
            <a:ext cx="2944368" cy="329184"/>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거절해도 된다</a:t>
            </a:r>
            <a:endParaRPr lang="en-US" sz="1500" dirty="0"/>
          </a:p>
        </p:txBody>
      </p:sp>
      <p:sp>
        <p:nvSpPr>
          <p:cNvPr id="18" name="Text 13"/>
          <p:cNvSpPr/>
          <p:nvPr/>
        </p:nvSpPr>
        <p:spPr>
          <a:xfrm>
            <a:off x="4507992" y="3694176"/>
            <a:ext cx="2999232" cy="777240"/>
          </a:xfrm>
          <a:prstGeom prst="rect">
            <a:avLst/>
          </a:prstGeom>
          <a:noFill/>
          <a:ln/>
        </p:spPr>
        <p:txBody>
          <a:bodyPr wrap="square" lIns="0" tIns="0" rIns="0" bIns="0" rtlCol="0" anchor="t"/>
          <a:lstStyle/>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거절해도 지도와 이름 검색은</a:t>
            </a:r>
            <a:endParaRPr lang="en-US" sz="1100" dirty="0"/>
          </a:p>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그대로 동작한다.</a:t>
            </a:r>
            <a:endParaRPr lang="en-US" sz="1100" dirty="0"/>
          </a:p>
        </p:txBody>
      </p:sp>
      <p:sp>
        <p:nvSpPr>
          <p:cNvPr id="19" name="Shape 14"/>
          <p:cNvSpPr/>
          <p:nvPr/>
        </p:nvSpPr>
        <p:spPr>
          <a:xfrm>
            <a:off x="7927848" y="2834640"/>
            <a:ext cx="3401568" cy="1783080"/>
          </a:xfrm>
          <a:prstGeom prst="rect">
            <a:avLst/>
          </a:prstGeom>
          <a:solidFill>
            <a:srgbClr val="F5F7FA"/>
          </a:solidFill>
          <a:ln w="12700">
            <a:solidFill>
              <a:srgbClr val="DDDDDD"/>
            </a:solidFill>
            <a:prstDash val="solid"/>
          </a:ln>
        </p:spPr>
      </p:sp>
      <p:sp>
        <p:nvSpPr>
          <p:cNvPr id="20" name="Text 15"/>
          <p:cNvSpPr/>
          <p:nvPr/>
        </p:nvSpPr>
        <p:spPr>
          <a:xfrm>
            <a:off x="8129016" y="2999232"/>
            <a:ext cx="914400" cy="256032"/>
          </a:xfrm>
          <a:prstGeom prst="rect">
            <a:avLst/>
          </a:prstGeom>
          <a:noFill/>
          <a:ln/>
        </p:spPr>
        <p:txBody>
          <a:bodyPr wrap="square" lIns="0" tIns="0" rIns="0" bIns="0" rtlCol="0" anchor="ctr"/>
          <a:lstStyle/>
          <a:p>
            <a:pPr indent="0" marL="0">
              <a:buNone/>
            </a:pPr>
            <a:r>
              <a:rPr lang="en-US" sz="1050" spc="200" kern="0" dirty="0">
                <a:solidFill>
                  <a:srgbClr val="0047AB"/>
                </a:solidFill>
                <a:latin typeface="Consolas" pitchFamily="34" charset="0"/>
                <a:ea typeface="Consolas" pitchFamily="34" charset="-122"/>
                <a:cs typeface="Consolas" pitchFamily="34" charset="-120"/>
              </a:rPr>
              <a:t>03</a:t>
            </a:r>
            <a:endParaRPr lang="en-US" sz="1050" dirty="0"/>
          </a:p>
        </p:txBody>
      </p:sp>
      <p:pic>
        <p:nvPicPr>
          <p:cNvPr id="21" name="Image 2" descr="icons/map-pin.png">    </p:cNvPr>
          <p:cNvPicPr>
            <a:picLocks noChangeAspect="1"/>
          </p:cNvPicPr>
          <p:nvPr/>
        </p:nvPicPr>
        <p:blipFill>
          <a:blip r:embed="rId3"/>
          <a:stretch>
            <a:fillRect/>
          </a:stretch>
        </p:blipFill>
        <p:spPr>
          <a:xfrm>
            <a:off x="10817352" y="2999232"/>
            <a:ext cx="292608" cy="292608"/>
          </a:xfrm>
          <a:prstGeom prst="rect">
            <a:avLst/>
          </a:prstGeom>
        </p:spPr>
      </p:pic>
      <p:sp>
        <p:nvSpPr>
          <p:cNvPr id="22" name="Text 16"/>
          <p:cNvSpPr/>
          <p:nvPr/>
        </p:nvSpPr>
        <p:spPr>
          <a:xfrm>
            <a:off x="8129016" y="3310128"/>
            <a:ext cx="2944368" cy="329184"/>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내 자리로 옮긴다</a:t>
            </a:r>
            <a:endParaRPr lang="en-US" sz="1500" dirty="0"/>
          </a:p>
        </p:txBody>
      </p:sp>
      <p:sp>
        <p:nvSpPr>
          <p:cNvPr id="23" name="Text 17"/>
          <p:cNvSpPr/>
          <p:nvPr/>
        </p:nvSpPr>
        <p:spPr>
          <a:xfrm>
            <a:off x="8129016" y="3694176"/>
            <a:ext cx="2999232" cy="777240"/>
          </a:xfrm>
          <a:prstGeom prst="rect">
            <a:avLst/>
          </a:prstGeom>
          <a:noFill/>
          <a:ln/>
        </p:spPr>
        <p:txBody>
          <a:bodyPr wrap="square" lIns="0" tIns="0" rIns="0" bIns="0" rtlCol="0" anchor="t"/>
          <a:lstStyle/>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지도를 내 위치로 옮기고</a:t>
            </a:r>
            <a:endParaRPr lang="en-US" sz="1100" dirty="0"/>
          </a:p>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내 점을 찍는다.</a:t>
            </a:r>
            <a:endParaRPr lang="en-US" sz="1100" dirty="0"/>
          </a:p>
        </p:txBody>
      </p:sp>
      <p:sp>
        <p:nvSpPr>
          <p:cNvPr id="24" name="Text 18"/>
          <p:cNvSpPr/>
          <p:nvPr/>
        </p:nvSpPr>
        <p:spPr>
          <a:xfrm>
            <a:off x="685800" y="5029200"/>
            <a:ext cx="10515600" cy="365760"/>
          </a:xfrm>
          <a:prstGeom prst="rect">
            <a:avLst/>
          </a:prstGeom>
          <a:noFill/>
          <a:ln/>
        </p:spPr>
        <p:txBody>
          <a:bodyPr wrap="square" lIns="0" tIns="0" rIns="0" bIns="0" rtlCol="0" anchor="ctr"/>
          <a:lstStyle/>
          <a:p>
            <a:pPr indent="0" marL="0">
              <a:buNone/>
            </a:pPr>
            <a:r>
              <a:rPr lang="en-US" sz="1150" spc="100" kern="0" dirty="0">
                <a:solidFill>
                  <a:srgbClr val="888888"/>
                </a:solidFill>
                <a:latin typeface="Consolas" pitchFamily="34" charset="0"/>
                <a:ea typeface="Consolas" pitchFamily="34" charset="-122"/>
                <a:cs typeface="Consolas" pitchFamily="34" charset="-120"/>
              </a:rPr>
              <a:t>중구 밖이면 ‘이 동네는 추후 개방 예정’ 한 줄만 — 목록은 비우지 않는다</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0047AB"/>
          </a:solidFill>
          <a:ln/>
        </p:spPr>
      </p:sp>
      <p:sp>
        <p:nvSpPr>
          <p:cNvPr id="3" name="Text 1"/>
          <p:cNvSpPr/>
          <p:nvPr/>
        </p:nvSpPr>
        <p:spPr>
          <a:xfrm>
            <a:off x="685800" y="6446520"/>
            <a:ext cx="5029200" cy="274320"/>
          </a:xfrm>
          <a:prstGeom prst="rect">
            <a:avLst/>
          </a:prstGeom>
          <a:noFill/>
          <a:ln/>
        </p:spPr>
        <p:txBody>
          <a:bodyPr wrap="square" lIns="0" tIns="0" rIns="0" bIns="0" rtlCol="0" anchor="ctr"/>
          <a:lstStyle/>
          <a:p>
            <a:pPr indent="0" marL="0">
              <a:buNone/>
            </a:pPr>
            <a:r>
              <a:rPr lang="en-US" sz="900" spc="200" kern="0" dirty="0">
                <a:solidFill>
                  <a:srgbClr val="888888"/>
                </a:solidFill>
                <a:latin typeface="Consolas" pitchFamily="34" charset="0"/>
                <a:ea typeface="Consolas" pitchFamily="34" charset="-122"/>
                <a:cs typeface="Consolas" pitchFamily="34" charset="-120"/>
              </a:rPr>
              <a:t>abara — cafe menu map mvp</a:t>
            </a:r>
            <a:endParaRPr lang="en-US" sz="900" dirty="0"/>
          </a:p>
        </p:txBody>
      </p:sp>
      <p:sp>
        <p:nvSpPr>
          <p:cNvPr id="5" name="Text 2"/>
          <p:cNvSpPr/>
          <p:nvPr/>
        </p:nvSpPr>
        <p:spPr>
          <a:xfrm>
            <a:off x="685800" y="502920"/>
            <a:ext cx="9601200" cy="292608"/>
          </a:xfrm>
          <a:prstGeom prst="rect">
            <a:avLst/>
          </a:prstGeom>
          <a:noFill/>
          <a:ln/>
        </p:spPr>
        <p:txBody>
          <a:bodyPr wrap="square" lIns="0" tIns="0" rIns="0" bIns="0" rtlCol="0" anchor="ctr"/>
          <a:lstStyle/>
          <a:p>
            <a:pPr indent="0" marL="0">
              <a:buNone/>
            </a:pPr>
            <a:r>
              <a:rPr lang="en-US" sz="1100" spc="300" kern="0" dirty="0">
                <a:solidFill>
                  <a:srgbClr val="0047AB"/>
                </a:solidFill>
                <a:latin typeface="Consolas" pitchFamily="34" charset="0"/>
                <a:ea typeface="Consolas" pitchFamily="34" charset="-122"/>
                <a:cs typeface="Consolas" pitchFamily="34" charset="-120"/>
              </a:rPr>
              <a:t>live demo · 30 seconds</a:t>
            </a:r>
            <a:endParaRPr lang="en-US" sz="1100" dirty="0"/>
          </a:p>
        </p:txBody>
      </p:sp>
      <p:sp>
        <p:nvSpPr>
          <p:cNvPr id="6" name="Text 3"/>
          <p:cNvSpPr/>
          <p:nvPr/>
        </p:nvSpPr>
        <p:spPr>
          <a:xfrm>
            <a:off x="685800" y="841248"/>
            <a:ext cx="10881360" cy="640080"/>
          </a:xfrm>
          <a:prstGeom prst="rect">
            <a:avLst/>
          </a:prstGeom>
          <a:noFill/>
          <a:ln/>
        </p:spPr>
        <p:txBody>
          <a:bodyPr wrap="square" lIns="0" tIns="0" rIns="0" bIns="0" rtlCol="0" anchor="ctr"/>
          <a:lstStyle/>
          <a:p>
            <a:pPr indent="0" marL="0">
              <a:buNone/>
            </a:pPr>
            <a:r>
              <a:rPr lang="en-US" sz="2800" b="1" dirty="0">
                <a:solidFill>
                  <a:srgbClr val="111111"/>
                </a:solidFill>
                <a:latin typeface="IBM Plex Sans KR" pitchFamily="34" charset="0"/>
                <a:ea typeface="IBM Plex Sans KR" pitchFamily="34" charset="-122"/>
                <a:cs typeface="IBM Plex Sans KR" pitchFamily="34" charset="-120"/>
              </a:rPr>
              <a:t>데모 — 지도에서 집까지 30초</a:t>
            </a:r>
            <a:endParaRPr lang="en-US" sz="2800" dirty="0"/>
          </a:p>
        </p:txBody>
      </p:sp>
      <p:sp>
        <p:nvSpPr>
          <p:cNvPr id="7" name="Shape 4"/>
          <p:cNvSpPr/>
          <p:nvPr/>
        </p:nvSpPr>
        <p:spPr>
          <a:xfrm>
            <a:off x="685800" y="1627632"/>
            <a:ext cx="10863072" cy="0"/>
          </a:xfrm>
          <a:prstGeom prst="line">
            <a:avLst/>
          </a:prstGeom>
          <a:noFill/>
          <a:ln w="12700">
            <a:solidFill>
              <a:srgbClr val="DDDDDD"/>
            </a:solidFill>
            <a:prstDash val="solid"/>
          </a:ln>
        </p:spPr>
      </p:sp>
      <p:sp>
        <p:nvSpPr>
          <p:cNvPr id="8" name="Shape 5"/>
          <p:cNvSpPr/>
          <p:nvPr/>
        </p:nvSpPr>
        <p:spPr>
          <a:xfrm>
            <a:off x="685800" y="2011680"/>
            <a:ext cx="3291840" cy="3154680"/>
          </a:xfrm>
          <a:prstGeom prst="rect">
            <a:avLst/>
          </a:prstGeom>
          <a:solidFill>
            <a:srgbClr val="F5F7FA"/>
          </a:solidFill>
          <a:ln w="12700">
            <a:solidFill>
              <a:srgbClr val="DDDDDD"/>
            </a:solidFill>
            <a:prstDash val="solid"/>
          </a:ln>
        </p:spPr>
      </p:sp>
      <p:pic>
        <p:nvPicPr>
          <p:cNvPr id="9" name="Image 0" descr="icons/monitor.png">    </p:cNvPr>
          <p:cNvPicPr>
            <a:picLocks noChangeAspect="1"/>
          </p:cNvPicPr>
          <p:nvPr/>
        </p:nvPicPr>
        <p:blipFill>
          <a:blip r:embed="rId1"/>
          <a:stretch>
            <a:fillRect/>
          </a:stretch>
        </p:blipFill>
        <p:spPr>
          <a:xfrm>
            <a:off x="2112264" y="3086100"/>
            <a:ext cx="438912" cy="438912"/>
          </a:xfrm>
          <a:prstGeom prst="rect">
            <a:avLst/>
          </a:prstGeom>
        </p:spPr>
      </p:pic>
      <p:sp>
        <p:nvSpPr>
          <p:cNvPr id="10" name="Text 6"/>
          <p:cNvSpPr/>
          <p:nvPr/>
        </p:nvSpPr>
        <p:spPr>
          <a:xfrm>
            <a:off x="822960" y="3662172"/>
            <a:ext cx="3017520" cy="365760"/>
          </a:xfrm>
          <a:prstGeom prst="rect">
            <a:avLst/>
          </a:prstGeom>
          <a:noFill/>
          <a:ln/>
        </p:spPr>
        <p:txBody>
          <a:bodyPr wrap="square" lIns="0" tIns="0" rIns="0" bIns="0" rtlCol="0" anchor="ctr"/>
          <a:lstStyle/>
          <a:p>
            <a:pPr algn="ctr" indent="0" marL="0">
              <a:buNone/>
            </a:pPr>
            <a:r>
              <a:rPr lang="en-US" sz="1050" spc="100" kern="0" dirty="0">
                <a:solidFill>
                  <a:srgbClr val="0047AB"/>
                </a:solidFill>
                <a:latin typeface="Consolas" pitchFamily="34" charset="0"/>
                <a:ea typeface="Consolas" pitchFamily="34" charset="-122"/>
                <a:cs typeface="Consolas" pitchFamily="34" charset="-120"/>
              </a:rPr>
              <a:t>[ 지도 화면 ]</a:t>
            </a:r>
            <a:endParaRPr lang="en-US" sz="1050" dirty="0"/>
          </a:p>
        </p:txBody>
      </p:sp>
      <p:sp>
        <p:nvSpPr>
          <p:cNvPr id="11" name="Text 7"/>
          <p:cNvSpPr/>
          <p:nvPr/>
        </p:nvSpPr>
        <p:spPr>
          <a:xfrm>
            <a:off x="822960" y="4009644"/>
            <a:ext cx="3017520" cy="274320"/>
          </a:xfrm>
          <a:prstGeom prst="rect">
            <a:avLst/>
          </a:prstGeom>
          <a:noFill/>
          <a:ln/>
        </p:spPr>
        <p:txBody>
          <a:bodyPr wrap="square" lIns="0" tIns="0" rIns="0" bIns="0" rtlCol="0" anchor="ctr"/>
          <a:lstStyle/>
          <a:p>
            <a:pPr algn="ctr" indent="0" marL="0">
              <a:buNone/>
            </a:pPr>
            <a:r>
              <a:rPr lang="en-US" sz="950" dirty="0">
                <a:solidFill>
                  <a:srgbClr val="888888"/>
                </a:solidFill>
                <a:latin typeface="IBM Plex Sans KR" pitchFamily="34" charset="0"/>
                <a:ea typeface="IBM Plex Sans KR" pitchFamily="34" charset="-122"/>
                <a:cs typeface="IBM Plex Sans KR" pitchFamily="34" charset="-120"/>
              </a:rPr>
              <a:t>스크린샷 자리 — 발표 전 교체</a:t>
            </a:r>
            <a:endParaRPr lang="en-US" sz="950" dirty="0"/>
          </a:p>
        </p:txBody>
      </p:sp>
      <p:sp>
        <p:nvSpPr>
          <p:cNvPr id="12" name="Shape 8"/>
          <p:cNvSpPr/>
          <p:nvPr/>
        </p:nvSpPr>
        <p:spPr>
          <a:xfrm>
            <a:off x="4206240" y="2011680"/>
            <a:ext cx="3291840" cy="3154680"/>
          </a:xfrm>
          <a:prstGeom prst="rect">
            <a:avLst/>
          </a:prstGeom>
          <a:solidFill>
            <a:srgbClr val="F5F7FA"/>
          </a:solidFill>
          <a:ln w="12700">
            <a:solidFill>
              <a:srgbClr val="DDDDDD"/>
            </a:solidFill>
            <a:prstDash val="solid"/>
          </a:ln>
        </p:spPr>
      </p:sp>
      <p:pic>
        <p:nvPicPr>
          <p:cNvPr id="13" name="Image 1" descr="icons/monitor.png">    </p:cNvPr>
          <p:cNvPicPr>
            <a:picLocks noChangeAspect="1"/>
          </p:cNvPicPr>
          <p:nvPr/>
        </p:nvPicPr>
        <p:blipFill>
          <a:blip r:embed="rId2"/>
          <a:stretch>
            <a:fillRect/>
          </a:stretch>
        </p:blipFill>
        <p:spPr>
          <a:xfrm>
            <a:off x="5632704" y="3086100"/>
            <a:ext cx="438912" cy="438912"/>
          </a:xfrm>
          <a:prstGeom prst="rect">
            <a:avLst/>
          </a:prstGeom>
        </p:spPr>
      </p:pic>
      <p:sp>
        <p:nvSpPr>
          <p:cNvPr id="14" name="Text 9"/>
          <p:cNvSpPr/>
          <p:nvPr/>
        </p:nvSpPr>
        <p:spPr>
          <a:xfrm>
            <a:off x="4343400" y="3662172"/>
            <a:ext cx="3017520" cy="365760"/>
          </a:xfrm>
          <a:prstGeom prst="rect">
            <a:avLst/>
          </a:prstGeom>
          <a:noFill/>
          <a:ln/>
        </p:spPr>
        <p:txBody>
          <a:bodyPr wrap="square" lIns="0" tIns="0" rIns="0" bIns="0" rtlCol="0" anchor="ctr"/>
          <a:lstStyle/>
          <a:p>
            <a:pPr algn="ctr" indent="0" marL="0">
              <a:buNone/>
            </a:pPr>
            <a:r>
              <a:rPr lang="en-US" sz="1050" spc="100" kern="0" dirty="0">
                <a:solidFill>
                  <a:srgbClr val="0047AB"/>
                </a:solidFill>
                <a:latin typeface="Consolas" pitchFamily="34" charset="0"/>
                <a:ea typeface="Consolas" pitchFamily="34" charset="-122"/>
                <a:cs typeface="Consolas" pitchFamily="34" charset="-120"/>
              </a:rPr>
              <a:t>[ 집 화면 · 바텀시트 ]</a:t>
            </a:r>
            <a:endParaRPr lang="en-US" sz="1050" dirty="0"/>
          </a:p>
        </p:txBody>
      </p:sp>
      <p:sp>
        <p:nvSpPr>
          <p:cNvPr id="15" name="Text 10"/>
          <p:cNvSpPr/>
          <p:nvPr/>
        </p:nvSpPr>
        <p:spPr>
          <a:xfrm>
            <a:off x="4343400" y="4009644"/>
            <a:ext cx="3017520" cy="274320"/>
          </a:xfrm>
          <a:prstGeom prst="rect">
            <a:avLst/>
          </a:prstGeom>
          <a:noFill/>
          <a:ln/>
        </p:spPr>
        <p:txBody>
          <a:bodyPr wrap="square" lIns="0" tIns="0" rIns="0" bIns="0" rtlCol="0" anchor="ctr"/>
          <a:lstStyle/>
          <a:p>
            <a:pPr algn="ctr" indent="0" marL="0">
              <a:buNone/>
            </a:pPr>
            <a:r>
              <a:rPr lang="en-US" sz="950" dirty="0">
                <a:solidFill>
                  <a:srgbClr val="888888"/>
                </a:solidFill>
                <a:latin typeface="IBM Plex Sans KR" pitchFamily="34" charset="0"/>
                <a:ea typeface="IBM Plex Sans KR" pitchFamily="34" charset="-122"/>
                <a:cs typeface="IBM Plex Sans KR" pitchFamily="34" charset="-120"/>
              </a:rPr>
              <a:t>스크린샷 자리 — 발표 전 교체</a:t>
            </a:r>
            <a:endParaRPr lang="en-US" sz="950" dirty="0"/>
          </a:p>
        </p:txBody>
      </p:sp>
      <p:sp>
        <p:nvSpPr>
          <p:cNvPr id="16" name="Text 11"/>
          <p:cNvSpPr/>
          <p:nvPr/>
        </p:nvSpPr>
        <p:spPr>
          <a:xfrm>
            <a:off x="7909560" y="2011680"/>
            <a:ext cx="3639312" cy="347472"/>
          </a:xfrm>
          <a:prstGeom prst="rect">
            <a:avLst/>
          </a:prstGeom>
          <a:noFill/>
          <a:ln/>
        </p:spPr>
        <p:txBody>
          <a:bodyPr wrap="square" lIns="0" tIns="0" rIns="0" bIns="0" rtlCol="0" anchor="ctr"/>
          <a:lstStyle/>
          <a:p>
            <a:pPr indent="0" marL="0">
              <a:buNone/>
            </a:pPr>
            <a:r>
              <a:rPr lang="en-US" sz="1500" b="1" dirty="0">
                <a:solidFill>
                  <a:srgbClr val="0047AB"/>
                </a:solidFill>
                <a:latin typeface="IBM Plex Sans KR" pitchFamily="34" charset="0"/>
                <a:ea typeface="IBM Plex Sans KR" pitchFamily="34" charset="-122"/>
                <a:cs typeface="IBM Plex Sans KR" pitchFamily="34" charset="-120"/>
              </a:rPr>
              <a:t>실제 화면으로 시연합니다</a:t>
            </a:r>
            <a:endParaRPr lang="en-US" sz="1500" dirty="0"/>
          </a:p>
        </p:txBody>
      </p:sp>
      <p:sp>
        <p:nvSpPr>
          <p:cNvPr id="17" name="Text 12"/>
          <p:cNvSpPr/>
          <p:nvPr/>
        </p:nvSpPr>
        <p:spPr>
          <a:xfrm>
            <a:off x="7909560" y="2514600"/>
            <a:ext cx="3639312" cy="2377440"/>
          </a:xfrm>
          <a:prstGeom prst="rect">
            <a:avLst/>
          </a:prstGeom>
          <a:noFill/>
          <a:ln/>
        </p:spPr>
        <p:txBody>
          <a:bodyPr wrap="square" lIns="0" tIns="0" rIns="0" bIns="0" rtlCol="0" anchor="t"/>
          <a:lstStyle/>
          <a:p>
            <a:pPr algn="l" marL="177800" indent="-177800">
              <a:spcAft>
                <a:spcPts val="1400"/>
              </a:spcAft>
              <a:buSzPct val="100000"/>
              <a:buChar char="–"/>
            </a:pPr>
            <a:r>
              <a:rPr lang="en-US" sz="1200" dirty="0">
                <a:solidFill>
                  <a:srgbClr val="111111"/>
                </a:solidFill>
                <a:latin typeface="IBM Plex Sans KR" pitchFamily="34" charset="0"/>
                <a:ea typeface="IBM Plex Sans KR" pitchFamily="34" charset="-122"/>
                <a:cs typeface="IBM Plex Sans KR" pitchFamily="34" charset="-120"/>
              </a:rPr>
              <a:t>지도가 먼저 뜬다 — 가입도, 권한도 묻지 않는다</a:t>
            </a:r>
            <a:endParaRPr lang="en-US" sz="1200" dirty="0"/>
          </a:p>
          <a:p>
            <a:pPr algn="l" marL="177800" indent="-177800">
              <a:spcAft>
                <a:spcPts val="1400"/>
              </a:spcAft>
              <a:buSzPct val="100000"/>
              <a:buChar char="–"/>
            </a:pPr>
            <a:r>
              <a:rPr lang="en-US" sz="1200" dirty="0">
                <a:solidFill>
                  <a:srgbClr val="111111"/>
                </a:solidFill>
                <a:latin typeface="IBM Plex Sans KR" pitchFamily="34" charset="0"/>
                <a:ea typeface="IBM Plex Sans KR" pitchFamily="34" charset="-122"/>
                <a:cs typeface="IBM Plex Sans KR" pitchFamily="34" charset="-120"/>
              </a:rPr>
              <a:t>‘내 위치’를 누르면 그때 권한을 묻는다</a:t>
            </a:r>
            <a:endParaRPr lang="en-US" sz="1200" dirty="0"/>
          </a:p>
          <a:p>
            <a:pPr algn="l" marL="177800" indent="-177800">
              <a:spcAft>
                <a:spcPts val="1400"/>
              </a:spcAft>
              <a:buSzPct val="100000"/>
              <a:buChar char="–"/>
            </a:pPr>
            <a:r>
              <a:rPr lang="en-US" sz="1200" dirty="0">
                <a:solidFill>
                  <a:srgbClr val="111111"/>
                </a:solidFill>
                <a:latin typeface="IBM Plex Sans KR" pitchFamily="34" charset="0"/>
                <a:ea typeface="IBM Plex Sans KR" pitchFamily="34" charset="-122"/>
                <a:cs typeface="IBM Plex Sans KR" pitchFamily="34" charset="-120"/>
              </a:rPr>
              <a:t>집을 누르면 대표 1개 + 후보 2개</a:t>
            </a:r>
            <a:endParaRPr lang="en-US" sz="1200" dirty="0"/>
          </a:p>
          <a:p>
            <a:pPr algn="l" marL="177800" indent="-177800">
              <a:spcAft>
                <a:spcPts val="1400"/>
              </a:spcAft>
              <a:buSzPct val="100000"/>
              <a:buChar char="–"/>
            </a:pPr>
            <a:r>
              <a:rPr lang="en-US" sz="1200" dirty="0">
                <a:solidFill>
                  <a:srgbClr val="111111"/>
                </a:solidFill>
                <a:latin typeface="IBM Plex Sans KR" pitchFamily="34" charset="0"/>
                <a:ea typeface="IBM Plex Sans KR" pitchFamily="34" charset="-122"/>
                <a:cs typeface="IBM Plex Sans KR" pitchFamily="34" charset="-120"/>
              </a:rPr>
              <a:t>‘여기 이거 시키래’를 바로 공유한다</a:t>
            </a:r>
            <a:endParaRPr lang="en-US" sz="1200" dirty="0"/>
          </a:p>
        </p:txBody>
      </p:sp>
      <p:sp>
        <p:nvSpPr>
          <p:cNvPr id="18" name="Text 13">
            <a:hlinkClick r:id="rId3" tooltip="아바라 열기"/>
          </p:cNvPr>
          <p:cNvSpPr/>
          <p:nvPr/>
        </p:nvSpPr>
        <p:spPr>
          <a:xfrm>
            <a:off x="685800" y="5440680"/>
            <a:ext cx="6858000" cy="320040"/>
          </a:xfrm>
          <a:prstGeom prst="rect">
            <a:avLst/>
          </a:prstGeom>
          <a:noFill/>
          <a:ln/>
        </p:spPr>
        <p:txBody>
          <a:bodyPr wrap="square" lIns="0" tIns="0" rIns="0" bIns="0" rtlCol="0" anchor="ctr"/>
          <a:lstStyle/>
          <a:p>
            <a:pPr indent="0" marL="0">
              <a:buNone/>
            </a:pPr>
            <a:r>
              <a:rPr lang="en-US" sz="1100" u="sng" dirty="0">
                <a:solidFill>
                  <a:srgbClr val="0047AB"/>
                </a:solidFill>
                <a:latin typeface="Consolas" pitchFamily="34" charset="0"/>
                <a:ea typeface="Consolas" pitchFamily="34" charset="-122"/>
                <a:cs typeface="Consolas" pitchFamily="34" charset="-120"/>
                <a:hlinkClick r:id="rId3" invalidUrl="" action="" tgtFrame="" tooltip="아바라 열기" history="1" highlightClick="0" endSnd="0">
                  <a:extLst>
                    <a:ext uri="{A12FA001-AC4F-418D-AE19-62706E023703}">
                      <ahyp:hlinkClr xmlns:ahyp="http://schemas.microsoft.com/office/drawing/2018/hyperlinkcolor" val="tx"/>
                    </a:ext>
                  </a:extLst>
                </a:hlinkClick>
              </a:rPr>
              <a:t>https://vanilla-latte-map.vercel.app/</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0047AB"/>
          </a:solidFill>
          <a:ln/>
        </p:spPr>
      </p:sp>
      <p:sp>
        <p:nvSpPr>
          <p:cNvPr id="3" name="Text 1"/>
          <p:cNvSpPr/>
          <p:nvPr/>
        </p:nvSpPr>
        <p:spPr>
          <a:xfrm>
            <a:off x="685800" y="6446520"/>
            <a:ext cx="5029200" cy="274320"/>
          </a:xfrm>
          <a:prstGeom prst="rect">
            <a:avLst/>
          </a:prstGeom>
          <a:noFill/>
          <a:ln/>
        </p:spPr>
        <p:txBody>
          <a:bodyPr wrap="square" lIns="0" tIns="0" rIns="0" bIns="0" rtlCol="0" anchor="ctr"/>
          <a:lstStyle/>
          <a:p>
            <a:pPr indent="0" marL="0">
              <a:buNone/>
            </a:pPr>
            <a:r>
              <a:rPr lang="en-US" sz="900" spc="200" kern="0" dirty="0">
                <a:solidFill>
                  <a:srgbClr val="888888"/>
                </a:solidFill>
                <a:latin typeface="Consolas" pitchFamily="34" charset="0"/>
                <a:ea typeface="Consolas" pitchFamily="34" charset="-122"/>
                <a:cs typeface="Consolas" pitchFamily="34" charset="-120"/>
              </a:rPr>
              <a:t>abara — cafe menu map mvp</a:t>
            </a:r>
            <a:endParaRPr lang="en-US" sz="900" dirty="0"/>
          </a:p>
        </p:txBody>
      </p:sp>
      <p:sp>
        <p:nvSpPr>
          <p:cNvPr id="5" name="Text 2"/>
          <p:cNvSpPr/>
          <p:nvPr/>
        </p:nvSpPr>
        <p:spPr>
          <a:xfrm>
            <a:off x="685800" y="502920"/>
            <a:ext cx="9601200" cy="292608"/>
          </a:xfrm>
          <a:prstGeom prst="rect">
            <a:avLst/>
          </a:prstGeom>
          <a:noFill/>
          <a:ln/>
        </p:spPr>
        <p:txBody>
          <a:bodyPr wrap="square" lIns="0" tIns="0" rIns="0" bIns="0" rtlCol="0" anchor="ctr"/>
          <a:lstStyle/>
          <a:p>
            <a:pPr indent="0" marL="0">
              <a:buNone/>
            </a:pPr>
            <a:r>
              <a:rPr lang="en-US" sz="1100" spc="300" kern="0" dirty="0">
                <a:solidFill>
                  <a:srgbClr val="0047AB"/>
                </a:solidFill>
                <a:latin typeface="Consolas" pitchFamily="34" charset="0"/>
                <a:ea typeface="Consolas" pitchFamily="34" charset="-122"/>
                <a:cs typeface="Consolas" pitchFamily="34" charset="-120"/>
              </a:rPr>
              <a:t>stack</a:t>
            </a:r>
            <a:endParaRPr lang="en-US" sz="1100" dirty="0"/>
          </a:p>
        </p:txBody>
      </p:sp>
      <p:sp>
        <p:nvSpPr>
          <p:cNvPr id="6" name="Text 3"/>
          <p:cNvSpPr/>
          <p:nvPr/>
        </p:nvSpPr>
        <p:spPr>
          <a:xfrm>
            <a:off x="685800" y="841248"/>
            <a:ext cx="10881360" cy="640080"/>
          </a:xfrm>
          <a:prstGeom prst="rect">
            <a:avLst/>
          </a:prstGeom>
          <a:noFill/>
          <a:ln/>
        </p:spPr>
        <p:txBody>
          <a:bodyPr wrap="square" lIns="0" tIns="0" rIns="0" bIns="0" rtlCol="0" anchor="ctr"/>
          <a:lstStyle/>
          <a:p>
            <a:pPr indent="0" marL="0">
              <a:buNone/>
            </a:pPr>
            <a:r>
              <a:rPr lang="en-US" sz="2800" b="1" dirty="0">
                <a:solidFill>
                  <a:srgbClr val="111111"/>
                </a:solidFill>
                <a:latin typeface="IBM Plex Sans KR" pitchFamily="34" charset="0"/>
                <a:ea typeface="IBM Plex Sans KR" pitchFamily="34" charset="-122"/>
                <a:cs typeface="IBM Plex Sans KR" pitchFamily="34" charset="-120"/>
              </a:rPr>
              <a:t>Next.js + Firebase</a:t>
            </a:r>
            <a:endParaRPr lang="en-US" sz="2800" dirty="0"/>
          </a:p>
        </p:txBody>
      </p:sp>
      <p:sp>
        <p:nvSpPr>
          <p:cNvPr id="7" name="Shape 4"/>
          <p:cNvSpPr/>
          <p:nvPr/>
        </p:nvSpPr>
        <p:spPr>
          <a:xfrm>
            <a:off x="685800" y="1627632"/>
            <a:ext cx="10863072" cy="0"/>
          </a:xfrm>
          <a:prstGeom prst="line">
            <a:avLst/>
          </a:prstGeom>
          <a:noFill/>
          <a:ln w="12700">
            <a:solidFill>
              <a:srgbClr val="DDDDDD"/>
            </a:solidFill>
            <a:prstDash val="solid"/>
          </a:ln>
        </p:spPr>
      </p:sp>
      <p:sp>
        <p:nvSpPr>
          <p:cNvPr id="8" name="Shape 5"/>
          <p:cNvSpPr/>
          <p:nvPr/>
        </p:nvSpPr>
        <p:spPr>
          <a:xfrm>
            <a:off x="685800" y="1965960"/>
            <a:ext cx="3401568" cy="1965960"/>
          </a:xfrm>
          <a:prstGeom prst="rect">
            <a:avLst/>
          </a:prstGeom>
          <a:solidFill>
            <a:srgbClr val="F5F7FA"/>
          </a:solidFill>
          <a:ln w="12700">
            <a:solidFill>
              <a:srgbClr val="DDDDDD"/>
            </a:solidFill>
            <a:prstDash val="solid"/>
          </a:ln>
        </p:spPr>
      </p:sp>
      <p:sp>
        <p:nvSpPr>
          <p:cNvPr id="9" name="Text 6"/>
          <p:cNvSpPr/>
          <p:nvPr/>
        </p:nvSpPr>
        <p:spPr>
          <a:xfrm>
            <a:off x="886968" y="2130552"/>
            <a:ext cx="914400" cy="256032"/>
          </a:xfrm>
          <a:prstGeom prst="rect">
            <a:avLst/>
          </a:prstGeom>
          <a:noFill/>
          <a:ln/>
        </p:spPr>
        <p:txBody>
          <a:bodyPr wrap="square" lIns="0" tIns="0" rIns="0" bIns="0" rtlCol="0" anchor="ctr"/>
          <a:lstStyle/>
          <a:p>
            <a:pPr indent="0" marL="0">
              <a:buNone/>
            </a:pPr>
            <a:r>
              <a:rPr lang="en-US" sz="1050" spc="200" kern="0" dirty="0">
                <a:solidFill>
                  <a:srgbClr val="0047AB"/>
                </a:solidFill>
                <a:latin typeface="Consolas" pitchFamily="34" charset="0"/>
                <a:ea typeface="Consolas" pitchFamily="34" charset="-122"/>
                <a:cs typeface="Consolas" pitchFamily="34" charset="-120"/>
              </a:rPr>
              <a:t>app</a:t>
            </a:r>
            <a:endParaRPr lang="en-US" sz="1050" dirty="0"/>
          </a:p>
        </p:txBody>
      </p:sp>
      <p:pic>
        <p:nvPicPr>
          <p:cNvPr id="10" name="Image 0" descr="icons/code.png">    </p:cNvPr>
          <p:cNvPicPr>
            <a:picLocks noChangeAspect="1"/>
          </p:cNvPicPr>
          <p:nvPr/>
        </p:nvPicPr>
        <p:blipFill>
          <a:blip r:embed="rId1"/>
          <a:stretch>
            <a:fillRect/>
          </a:stretch>
        </p:blipFill>
        <p:spPr>
          <a:xfrm>
            <a:off x="3575304" y="2130552"/>
            <a:ext cx="292608" cy="292608"/>
          </a:xfrm>
          <a:prstGeom prst="rect">
            <a:avLst/>
          </a:prstGeom>
        </p:spPr>
      </p:pic>
      <p:sp>
        <p:nvSpPr>
          <p:cNvPr id="11" name="Text 7"/>
          <p:cNvSpPr/>
          <p:nvPr/>
        </p:nvSpPr>
        <p:spPr>
          <a:xfrm>
            <a:off x="886968" y="2441448"/>
            <a:ext cx="2944368" cy="329184"/>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Next.js 16</a:t>
            </a:r>
            <a:endParaRPr lang="en-US" sz="1500" dirty="0"/>
          </a:p>
        </p:txBody>
      </p:sp>
      <p:sp>
        <p:nvSpPr>
          <p:cNvPr id="12" name="Text 8"/>
          <p:cNvSpPr/>
          <p:nvPr/>
        </p:nvSpPr>
        <p:spPr>
          <a:xfrm>
            <a:off x="886968" y="2825496"/>
            <a:ext cx="2999232" cy="960120"/>
          </a:xfrm>
          <a:prstGeom prst="rect">
            <a:avLst/>
          </a:prstGeom>
          <a:noFill/>
          <a:ln/>
        </p:spPr>
        <p:txBody>
          <a:bodyPr wrap="square" lIns="0" tIns="0" rIns="0" bIns="0" rtlCol="0" anchor="t"/>
          <a:lstStyle/>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App Router. 서버가 카페 목록을 읽어 화면에 넘긴다.</a:t>
            </a:r>
            <a:endParaRPr lang="en-US" sz="1100" dirty="0"/>
          </a:p>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/cafes/[id] 집 전용 링크.</a:t>
            </a:r>
            <a:endParaRPr lang="en-US" sz="1100" dirty="0"/>
          </a:p>
        </p:txBody>
      </p:sp>
      <p:sp>
        <p:nvSpPr>
          <p:cNvPr id="13" name="Shape 9"/>
          <p:cNvSpPr/>
          <p:nvPr/>
        </p:nvSpPr>
        <p:spPr>
          <a:xfrm>
            <a:off x="4306824" y="1965960"/>
            <a:ext cx="3401568" cy="1965960"/>
          </a:xfrm>
          <a:prstGeom prst="rect">
            <a:avLst/>
          </a:prstGeom>
          <a:solidFill>
            <a:srgbClr val="F5F7FA"/>
          </a:solidFill>
          <a:ln w="12700">
            <a:solidFill>
              <a:srgbClr val="DDDDDD"/>
            </a:solidFill>
            <a:prstDash val="solid"/>
          </a:ln>
        </p:spPr>
      </p:sp>
      <p:sp>
        <p:nvSpPr>
          <p:cNvPr id="14" name="Text 10"/>
          <p:cNvSpPr/>
          <p:nvPr/>
        </p:nvSpPr>
        <p:spPr>
          <a:xfrm>
            <a:off x="4507992" y="2130552"/>
            <a:ext cx="914400" cy="256032"/>
          </a:xfrm>
          <a:prstGeom prst="rect">
            <a:avLst/>
          </a:prstGeom>
          <a:noFill/>
          <a:ln/>
        </p:spPr>
        <p:txBody>
          <a:bodyPr wrap="square" lIns="0" tIns="0" rIns="0" bIns="0" rtlCol="0" anchor="ctr"/>
          <a:lstStyle/>
          <a:p>
            <a:pPr indent="0" marL="0">
              <a:buNone/>
            </a:pPr>
            <a:r>
              <a:rPr lang="en-US" sz="1050" spc="200" kern="0" dirty="0">
                <a:solidFill>
                  <a:srgbClr val="0047AB"/>
                </a:solidFill>
                <a:latin typeface="Consolas" pitchFamily="34" charset="0"/>
                <a:ea typeface="Consolas" pitchFamily="34" charset="-122"/>
                <a:cs typeface="Consolas" pitchFamily="34" charset="-120"/>
              </a:rPr>
              <a:t>auth+db</a:t>
            </a:r>
            <a:endParaRPr lang="en-US" sz="1050" dirty="0"/>
          </a:p>
        </p:txBody>
      </p:sp>
      <p:pic>
        <p:nvPicPr>
          <p:cNvPr id="15" name="Image 1" descr="icons/database.png">    </p:cNvPr>
          <p:cNvPicPr>
            <a:picLocks noChangeAspect="1"/>
          </p:cNvPicPr>
          <p:nvPr/>
        </p:nvPicPr>
        <p:blipFill>
          <a:blip r:embed="rId2"/>
          <a:stretch>
            <a:fillRect/>
          </a:stretch>
        </p:blipFill>
        <p:spPr>
          <a:xfrm>
            <a:off x="7196328" y="2130552"/>
            <a:ext cx="292608" cy="292608"/>
          </a:xfrm>
          <a:prstGeom prst="rect">
            <a:avLst/>
          </a:prstGeom>
        </p:spPr>
      </p:pic>
      <p:sp>
        <p:nvSpPr>
          <p:cNvPr id="16" name="Text 11"/>
          <p:cNvSpPr/>
          <p:nvPr/>
        </p:nvSpPr>
        <p:spPr>
          <a:xfrm>
            <a:off x="4507992" y="2441448"/>
            <a:ext cx="2944368" cy="329184"/>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Firebase</a:t>
            </a:r>
            <a:endParaRPr lang="en-US" sz="1500" dirty="0"/>
          </a:p>
        </p:txBody>
      </p:sp>
      <p:sp>
        <p:nvSpPr>
          <p:cNvPr id="17" name="Text 12"/>
          <p:cNvSpPr/>
          <p:nvPr/>
        </p:nvSpPr>
        <p:spPr>
          <a:xfrm>
            <a:off x="4507992" y="2825496"/>
            <a:ext cx="2999232" cy="960120"/>
          </a:xfrm>
          <a:prstGeom prst="rect">
            <a:avLst/>
          </a:prstGeom>
          <a:noFill/>
          <a:ln/>
        </p:spPr>
        <p:txBody>
          <a:bodyPr wrap="square" lIns="0" tIns="0" rIns="0" bIns="0" rtlCol="0" anchor="t"/>
          <a:lstStyle/>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Google 로그인 + Firestore.</a:t>
            </a:r>
            <a:endParaRPr lang="en-US" sz="1100" dirty="0"/>
          </a:p>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찜과 좋아하는 음료를 계정에 붙인다.</a:t>
            </a:r>
            <a:endParaRPr lang="en-US" sz="1100" dirty="0"/>
          </a:p>
        </p:txBody>
      </p:sp>
      <p:sp>
        <p:nvSpPr>
          <p:cNvPr id="18" name="Shape 13"/>
          <p:cNvSpPr/>
          <p:nvPr/>
        </p:nvSpPr>
        <p:spPr>
          <a:xfrm>
            <a:off x="7927848" y="1965960"/>
            <a:ext cx="3401568" cy="1965960"/>
          </a:xfrm>
          <a:prstGeom prst="rect">
            <a:avLst/>
          </a:prstGeom>
          <a:solidFill>
            <a:srgbClr val="F5F7FA"/>
          </a:solidFill>
          <a:ln w="12700">
            <a:solidFill>
              <a:srgbClr val="DDDDDD"/>
            </a:solidFill>
            <a:prstDash val="solid"/>
          </a:ln>
        </p:spPr>
      </p:sp>
      <p:sp>
        <p:nvSpPr>
          <p:cNvPr id="19" name="Text 14"/>
          <p:cNvSpPr/>
          <p:nvPr/>
        </p:nvSpPr>
        <p:spPr>
          <a:xfrm>
            <a:off x="8129016" y="2130552"/>
            <a:ext cx="914400" cy="256032"/>
          </a:xfrm>
          <a:prstGeom prst="rect">
            <a:avLst/>
          </a:prstGeom>
          <a:noFill/>
          <a:ln/>
        </p:spPr>
        <p:txBody>
          <a:bodyPr wrap="square" lIns="0" tIns="0" rIns="0" bIns="0" rtlCol="0" anchor="ctr"/>
          <a:lstStyle/>
          <a:p>
            <a:pPr indent="0" marL="0">
              <a:buNone/>
            </a:pPr>
            <a:r>
              <a:rPr lang="en-US" sz="1050" spc="200" kern="0" dirty="0">
                <a:solidFill>
                  <a:srgbClr val="0047AB"/>
                </a:solidFill>
                <a:latin typeface="Consolas" pitchFamily="34" charset="0"/>
                <a:ea typeface="Consolas" pitchFamily="34" charset="-122"/>
                <a:cs typeface="Consolas" pitchFamily="34" charset="-120"/>
              </a:rPr>
              <a:t>map</a:t>
            </a:r>
            <a:endParaRPr lang="en-US" sz="1050" dirty="0"/>
          </a:p>
        </p:txBody>
      </p:sp>
      <p:pic>
        <p:nvPicPr>
          <p:cNvPr id="20" name="Image 2" descr="icons/globe.png">    </p:cNvPr>
          <p:cNvPicPr>
            <a:picLocks noChangeAspect="1"/>
          </p:cNvPicPr>
          <p:nvPr/>
        </p:nvPicPr>
        <p:blipFill>
          <a:blip r:embed="rId3"/>
          <a:stretch>
            <a:fillRect/>
          </a:stretch>
        </p:blipFill>
        <p:spPr>
          <a:xfrm>
            <a:off x="10817352" y="2130552"/>
            <a:ext cx="292608" cy="292608"/>
          </a:xfrm>
          <a:prstGeom prst="rect">
            <a:avLst/>
          </a:prstGeom>
        </p:spPr>
      </p:pic>
      <p:sp>
        <p:nvSpPr>
          <p:cNvPr id="21" name="Text 15"/>
          <p:cNvSpPr/>
          <p:nvPr/>
        </p:nvSpPr>
        <p:spPr>
          <a:xfrm>
            <a:off x="8129016" y="2441448"/>
            <a:ext cx="2944368" cy="329184"/>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네이버 지도</a:t>
            </a:r>
            <a:endParaRPr lang="en-US" sz="1500" dirty="0"/>
          </a:p>
        </p:txBody>
      </p:sp>
      <p:sp>
        <p:nvSpPr>
          <p:cNvPr id="22" name="Text 16"/>
          <p:cNvSpPr/>
          <p:nvPr/>
        </p:nvSpPr>
        <p:spPr>
          <a:xfrm>
            <a:off x="8129016" y="2825496"/>
            <a:ext cx="2999232" cy="960120"/>
          </a:xfrm>
          <a:prstGeom prst="rect">
            <a:avLst/>
          </a:prstGeom>
          <a:noFill/>
          <a:ln/>
        </p:spPr>
        <p:txBody>
          <a:bodyPr wrap="square" lIns="0" tIns="0" rIns="0" bIns="0" rtlCol="0" anchor="t"/>
          <a:lstStyle/>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마커, 내 위치, 중구 경계.</a:t>
            </a:r>
            <a:endParaRPr lang="en-US" sz="1100" dirty="0"/>
          </a:p>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음료 5종으로 걸러 본다.</a:t>
            </a:r>
            <a:endParaRPr lang="en-US" sz="1100" dirty="0"/>
          </a:p>
        </p:txBody>
      </p:sp>
      <p:sp>
        <p:nvSpPr>
          <p:cNvPr id="23" name="Shape 17"/>
          <p:cNvSpPr/>
          <p:nvPr/>
        </p:nvSpPr>
        <p:spPr>
          <a:xfrm>
            <a:off x="685800" y="4315968"/>
            <a:ext cx="10863072" cy="914400"/>
          </a:xfrm>
          <a:prstGeom prst="rect">
            <a:avLst/>
          </a:prstGeom>
          <a:solidFill>
            <a:srgbClr val="F5F7FA"/>
          </a:solidFill>
          <a:ln w="12700">
            <a:solidFill>
              <a:srgbClr val="DDDDDD"/>
            </a:solidFill>
            <a:prstDash val="solid"/>
          </a:ln>
        </p:spPr>
      </p:sp>
      <p:sp>
        <p:nvSpPr>
          <p:cNvPr id="24" name="Text 18"/>
          <p:cNvSpPr/>
          <p:nvPr/>
        </p:nvSpPr>
        <p:spPr>
          <a:xfrm>
            <a:off x="1051560" y="4572000"/>
            <a:ext cx="10241280" cy="411480"/>
          </a:xfrm>
          <a:prstGeom prst="rect">
            <a:avLst/>
          </a:prstGeom>
          <a:noFill/>
          <a:ln/>
        </p:spPr>
        <p:txBody>
          <a:bodyPr wrap="square" lIns="0" tIns="0" rIns="0" bIns="0" rtlCol="0" anchor="ctr"/>
          <a:lstStyle/>
          <a:p>
            <a:pPr indent="0" marL="0">
              <a:buNone/>
            </a:pPr>
            <a:r>
              <a:rPr lang="en-US" sz="1500" b="1" dirty="0">
                <a:solidFill>
                  <a:srgbClr val="111111"/>
                </a:solidFill>
                <a:latin typeface="Consolas" pitchFamily="34" charset="0"/>
                <a:ea typeface="Consolas" pitchFamily="34" charset="-122"/>
                <a:cs typeface="Consolas" pitchFamily="34" charset="-120"/>
              </a:rPr>
              <a:t>users/{uid}.preferredDrinkIds[]     users/{uid}/favorites/{cafeId}</a:t>
            </a:r>
            <a:endParaRPr lang="en-US" sz="1500" dirty="0"/>
          </a:p>
        </p:txBody>
      </p:sp>
      <p:sp>
        <p:nvSpPr>
          <p:cNvPr id="25" name="Text 19"/>
          <p:cNvSpPr/>
          <p:nvPr/>
        </p:nvSpPr>
        <p:spPr>
          <a:xfrm>
            <a:off x="685800" y="5394960"/>
            <a:ext cx="10515600" cy="365760"/>
          </a:xfrm>
          <a:prstGeom prst="rect">
            <a:avLst/>
          </a:prstGeom>
          <a:noFill/>
          <a:ln/>
        </p:spPr>
        <p:txBody>
          <a:bodyPr wrap="square" lIns="0" tIns="0" rIns="0" bIns="0" rtlCol="0" anchor="ctr"/>
          <a:lstStyle/>
          <a:p>
            <a:pPr indent="0" marL="0">
              <a:buNone/>
            </a:pPr>
            <a:r>
              <a:rPr lang="en-US" sz="1000" spc="100" kern="0" dirty="0">
                <a:solidFill>
                  <a:srgbClr val="888888"/>
                </a:solidFill>
                <a:latin typeface="Consolas" pitchFamily="34" charset="0"/>
                <a:ea typeface="Consolas" pitchFamily="34" charset="-122"/>
                <a:cs typeface="Consolas" pitchFamily="34" charset="-120"/>
              </a:rPr>
              <a:t>규칙: 자기 uid 문서만 읽고 쓴다 · Firestore asia-northeast3 · 카페 30곳은 아직 로컬 JSON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0047AB"/>
          </a:solidFill>
          <a:ln/>
        </p:spPr>
      </p:sp>
      <p:sp>
        <p:nvSpPr>
          <p:cNvPr id="3" name="Text 1"/>
          <p:cNvSpPr/>
          <p:nvPr/>
        </p:nvSpPr>
        <p:spPr>
          <a:xfrm>
            <a:off x="685800" y="6446520"/>
            <a:ext cx="5029200" cy="274320"/>
          </a:xfrm>
          <a:prstGeom prst="rect">
            <a:avLst/>
          </a:prstGeom>
          <a:noFill/>
          <a:ln/>
        </p:spPr>
        <p:txBody>
          <a:bodyPr wrap="square" lIns="0" tIns="0" rIns="0" bIns="0" rtlCol="0" anchor="ctr"/>
          <a:lstStyle/>
          <a:p>
            <a:pPr indent="0" marL="0">
              <a:buNone/>
            </a:pPr>
            <a:r>
              <a:rPr lang="en-US" sz="900" spc="200" kern="0" dirty="0">
                <a:solidFill>
                  <a:srgbClr val="888888"/>
                </a:solidFill>
                <a:latin typeface="Consolas" pitchFamily="34" charset="0"/>
                <a:ea typeface="Consolas" pitchFamily="34" charset="-122"/>
                <a:cs typeface="Consolas" pitchFamily="34" charset="-120"/>
              </a:rPr>
              <a:t>abara — cafe menu map mvp</a:t>
            </a:r>
            <a:endParaRPr lang="en-US" sz="900" dirty="0"/>
          </a:p>
        </p:txBody>
      </p:sp>
      <p:sp>
        <p:nvSpPr>
          <p:cNvPr id="5" name="Text 2"/>
          <p:cNvSpPr/>
          <p:nvPr/>
        </p:nvSpPr>
        <p:spPr>
          <a:xfrm>
            <a:off x="685800" y="502920"/>
            <a:ext cx="9601200" cy="292608"/>
          </a:xfrm>
          <a:prstGeom prst="rect">
            <a:avLst/>
          </a:prstGeom>
          <a:noFill/>
          <a:ln/>
        </p:spPr>
        <p:txBody>
          <a:bodyPr wrap="square" lIns="0" tIns="0" rIns="0" bIns="0" rtlCol="0" anchor="ctr"/>
          <a:lstStyle/>
          <a:p>
            <a:pPr indent="0" marL="0">
              <a:buNone/>
            </a:pPr>
            <a:r>
              <a:rPr lang="en-US" sz="1100" spc="300" kern="0" dirty="0">
                <a:solidFill>
                  <a:srgbClr val="0047AB"/>
                </a:solidFill>
                <a:latin typeface="Consolas" pitchFamily="34" charset="0"/>
                <a:ea typeface="Consolas" pitchFamily="34" charset="-122"/>
                <a:cs typeface="Consolas" pitchFamily="34" charset="-120"/>
              </a:rPr>
              <a:t>by the numbers</a:t>
            </a:r>
            <a:endParaRPr lang="en-US" sz="1100" dirty="0"/>
          </a:p>
        </p:txBody>
      </p:sp>
      <p:sp>
        <p:nvSpPr>
          <p:cNvPr id="6" name="Text 3"/>
          <p:cNvSpPr/>
          <p:nvPr/>
        </p:nvSpPr>
        <p:spPr>
          <a:xfrm>
            <a:off x="685800" y="841248"/>
            <a:ext cx="10881360" cy="640080"/>
          </a:xfrm>
          <a:prstGeom prst="rect">
            <a:avLst/>
          </a:prstGeom>
          <a:noFill/>
          <a:ln/>
        </p:spPr>
        <p:txBody>
          <a:bodyPr wrap="square" lIns="0" tIns="0" rIns="0" bIns="0" rtlCol="0" anchor="ctr"/>
          <a:lstStyle/>
          <a:p>
            <a:pPr indent="0" marL="0">
              <a:buNone/>
            </a:pPr>
            <a:r>
              <a:rPr lang="en-US" sz="2800" b="1" dirty="0">
                <a:solidFill>
                  <a:srgbClr val="111111"/>
                </a:solidFill>
                <a:latin typeface="IBM Plex Sans KR" pitchFamily="34" charset="0"/>
                <a:ea typeface="IBM Plex Sans KR" pitchFamily="34" charset="-122"/>
                <a:cs typeface="IBM Plex Sans KR" pitchFamily="34" charset="-120"/>
              </a:rPr>
              <a:t>숫자로 보는 3주</a:t>
            </a:r>
            <a:endParaRPr lang="en-US" sz="2800" dirty="0"/>
          </a:p>
        </p:txBody>
      </p:sp>
      <p:sp>
        <p:nvSpPr>
          <p:cNvPr id="7" name="Shape 4"/>
          <p:cNvSpPr/>
          <p:nvPr/>
        </p:nvSpPr>
        <p:spPr>
          <a:xfrm>
            <a:off x="685800" y="1627632"/>
            <a:ext cx="10863072" cy="0"/>
          </a:xfrm>
          <a:prstGeom prst="line">
            <a:avLst/>
          </a:prstGeom>
          <a:noFill/>
          <a:ln w="12700">
            <a:solidFill>
              <a:srgbClr val="DDDDDD"/>
            </a:solidFill>
            <a:prstDash val="solid"/>
          </a:ln>
        </p:spPr>
      </p:sp>
      <p:sp>
        <p:nvSpPr>
          <p:cNvPr id="8" name="Text 5"/>
          <p:cNvSpPr/>
          <p:nvPr/>
        </p:nvSpPr>
        <p:spPr>
          <a:xfrm>
            <a:off x="868680" y="2148840"/>
            <a:ext cx="1920240" cy="731520"/>
          </a:xfrm>
          <a:prstGeom prst="rect">
            <a:avLst/>
          </a:prstGeom>
          <a:noFill/>
          <a:ln/>
        </p:spPr>
        <p:txBody>
          <a:bodyPr wrap="square" lIns="0" tIns="0" rIns="0" bIns="0" rtlCol="0" anchor="ctr"/>
          <a:lstStyle/>
          <a:p>
            <a:pPr indent="0" marL="0">
              <a:buNone/>
            </a:pPr>
            <a:r>
              <a:rPr lang="en-US" sz="4000" b="1" dirty="0">
                <a:solidFill>
                  <a:srgbClr val="0047AB"/>
                </a:solidFill>
                <a:latin typeface="IBM Plex Sans KR" pitchFamily="34" charset="0"/>
                <a:ea typeface="IBM Plex Sans KR" pitchFamily="34" charset="-122"/>
                <a:cs typeface="IBM Plex Sans KR" pitchFamily="34" charset="-120"/>
              </a:rPr>
              <a:t>30</a:t>
            </a:r>
            <a:endParaRPr lang="en-US" sz="4000" dirty="0"/>
          </a:p>
        </p:txBody>
      </p:sp>
      <p:sp>
        <p:nvSpPr>
          <p:cNvPr id="9" name="Text 6"/>
          <p:cNvSpPr/>
          <p:nvPr/>
        </p:nvSpPr>
        <p:spPr>
          <a:xfrm>
            <a:off x="2880360" y="2276856"/>
            <a:ext cx="3108960" cy="292608"/>
          </a:xfrm>
          <a:prstGeom prst="rect">
            <a:avLst/>
          </a:prstGeom>
          <a:noFill/>
          <a:ln/>
        </p:spPr>
        <p:txBody>
          <a:bodyPr wrap="square" lIns="0" tIns="0" rIns="0" bIns="0" rtlCol="0" anchor="ctr"/>
          <a:lstStyle/>
          <a:p>
            <a:pPr indent="0" marL="0">
              <a:buNone/>
            </a:pPr>
            <a:r>
              <a:rPr lang="en-US" sz="1350" b="1" dirty="0">
                <a:solidFill>
                  <a:srgbClr val="111111"/>
                </a:solidFill>
                <a:latin typeface="IBM Plex Sans KR" pitchFamily="34" charset="0"/>
                <a:ea typeface="IBM Plex Sans KR" pitchFamily="34" charset="-122"/>
                <a:cs typeface="IBM Plex Sans KR" pitchFamily="34" charset="-120"/>
              </a:rPr>
              <a:t>중구 카페</a:t>
            </a:r>
            <a:endParaRPr lang="en-US" sz="1350" dirty="0"/>
          </a:p>
        </p:txBody>
      </p:sp>
      <p:sp>
        <p:nvSpPr>
          <p:cNvPr id="10" name="Text 7"/>
          <p:cNvSpPr/>
          <p:nvPr/>
        </p:nvSpPr>
        <p:spPr>
          <a:xfrm>
            <a:off x="2880360" y="2606040"/>
            <a:ext cx="3200400" cy="310896"/>
          </a:xfrm>
          <a:prstGeom prst="rect">
            <a:avLst/>
          </a:prstGeom>
          <a:noFill/>
          <a:ln/>
        </p:spPr>
        <p:txBody>
          <a:bodyPr wrap="square" lIns="0" tIns="0" rIns="0" bIns="0" rtlCol="0" anchor="ctr"/>
          <a:lstStyle/>
          <a:p>
            <a:pPr indent="0" marL="0">
              <a:buNone/>
            </a:pPr>
            <a:r>
              <a:rPr lang="en-US" sz="1050" dirty="0">
                <a:solidFill>
                  <a:srgbClr val="888888"/>
                </a:solidFill>
                <a:latin typeface="IBM Plex Sans KR" pitchFamily="34" charset="0"/>
                <a:ea typeface="IBM Plex Sans KR" pitchFamily="34" charset="-122"/>
                <a:cs typeface="IBM Plex Sans KR" pitchFamily="34" charset="-120"/>
              </a:rPr>
              <a:t>직접 정리한 대표 메뉴 데이터</a:t>
            </a:r>
            <a:endParaRPr lang="en-US" sz="1050" dirty="0"/>
          </a:p>
        </p:txBody>
      </p:sp>
      <p:sp>
        <p:nvSpPr>
          <p:cNvPr id="11" name="Text 8"/>
          <p:cNvSpPr/>
          <p:nvPr/>
        </p:nvSpPr>
        <p:spPr>
          <a:xfrm>
            <a:off x="868680" y="3291840"/>
            <a:ext cx="1920240" cy="731520"/>
          </a:xfrm>
          <a:prstGeom prst="rect">
            <a:avLst/>
          </a:prstGeom>
          <a:noFill/>
          <a:ln/>
        </p:spPr>
        <p:txBody>
          <a:bodyPr wrap="square" lIns="0" tIns="0" rIns="0" bIns="0" rtlCol="0" anchor="ctr"/>
          <a:lstStyle/>
          <a:p>
            <a:pPr indent="0" marL="0">
              <a:buNone/>
            </a:pPr>
            <a:r>
              <a:rPr lang="en-US" sz="4000" b="1" dirty="0">
                <a:solidFill>
                  <a:srgbClr val="0047AB"/>
                </a:solidFill>
                <a:latin typeface="IBM Plex Sans KR" pitchFamily="34" charset="0"/>
                <a:ea typeface="IBM Plex Sans KR" pitchFamily="34" charset="-122"/>
                <a:cs typeface="IBM Plex Sans KR" pitchFamily="34" charset="-120"/>
              </a:rPr>
              <a:t>5</a:t>
            </a:r>
            <a:endParaRPr lang="en-US" sz="4000" dirty="0"/>
          </a:p>
        </p:txBody>
      </p:sp>
      <p:sp>
        <p:nvSpPr>
          <p:cNvPr id="12" name="Text 9"/>
          <p:cNvSpPr/>
          <p:nvPr/>
        </p:nvSpPr>
        <p:spPr>
          <a:xfrm>
            <a:off x="2880360" y="3419856"/>
            <a:ext cx="3108960" cy="292608"/>
          </a:xfrm>
          <a:prstGeom prst="rect">
            <a:avLst/>
          </a:prstGeom>
          <a:noFill/>
          <a:ln/>
        </p:spPr>
        <p:txBody>
          <a:bodyPr wrap="square" lIns="0" tIns="0" rIns="0" bIns="0" rtlCol="0" anchor="ctr"/>
          <a:lstStyle/>
          <a:p>
            <a:pPr indent="0" marL="0">
              <a:buNone/>
            </a:pPr>
            <a:r>
              <a:rPr lang="en-US" sz="1350" b="1" dirty="0">
                <a:solidFill>
                  <a:srgbClr val="111111"/>
                </a:solidFill>
                <a:latin typeface="IBM Plex Sans KR" pitchFamily="34" charset="0"/>
                <a:ea typeface="IBM Plex Sans KR" pitchFamily="34" charset="-122"/>
                <a:cs typeface="IBM Plex Sans KR" pitchFamily="34" charset="-120"/>
              </a:rPr>
              <a:t>음료 카테고리</a:t>
            </a:r>
            <a:endParaRPr lang="en-US" sz="1350" dirty="0"/>
          </a:p>
        </p:txBody>
      </p:sp>
      <p:sp>
        <p:nvSpPr>
          <p:cNvPr id="13" name="Text 10"/>
          <p:cNvSpPr/>
          <p:nvPr/>
        </p:nvSpPr>
        <p:spPr>
          <a:xfrm>
            <a:off x="2880360" y="3749040"/>
            <a:ext cx="3200400" cy="310896"/>
          </a:xfrm>
          <a:prstGeom prst="rect">
            <a:avLst/>
          </a:prstGeom>
          <a:noFill/>
          <a:ln/>
        </p:spPr>
        <p:txBody>
          <a:bodyPr wrap="square" lIns="0" tIns="0" rIns="0" bIns="0" rtlCol="0" anchor="ctr"/>
          <a:lstStyle/>
          <a:p>
            <a:pPr indent="0" marL="0">
              <a:buNone/>
            </a:pPr>
            <a:r>
              <a:rPr lang="en-US" sz="1050" dirty="0">
                <a:solidFill>
                  <a:srgbClr val="888888"/>
                </a:solidFill>
                <a:latin typeface="IBM Plex Sans KR" pitchFamily="34" charset="0"/>
                <a:ea typeface="IBM Plex Sans KR" pitchFamily="34" charset="-122"/>
                <a:cs typeface="IBM Plex Sans KR" pitchFamily="34" charset="-120"/>
              </a:rPr>
              <a:t>아메리카노 · 핸드드립 · 라떼 · 아인슈페너 · 기타</a:t>
            </a:r>
            <a:endParaRPr lang="en-US" sz="1050" dirty="0"/>
          </a:p>
        </p:txBody>
      </p:sp>
      <p:sp>
        <p:nvSpPr>
          <p:cNvPr id="14" name="Text 11"/>
          <p:cNvSpPr/>
          <p:nvPr/>
        </p:nvSpPr>
        <p:spPr>
          <a:xfrm>
            <a:off x="6446520" y="2148840"/>
            <a:ext cx="1920240" cy="731520"/>
          </a:xfrm>
          <a:prstGeom prst="rect">
            <a:avLst/>
          </a:prstGeom>
          <a:noFill/>
          <a:ln/>
        </p:spPr>
        <p:txBody>
          <a:bodyPr wrap="square" lIns="0" tIns="0" rIns="0" bIns="0" rtlCol="0" anchor="ctr"/>
          <a:lstStyle/>
          <a:p>
            <a:pPr indent="0" marL="0">
              <a:buNone/>
            </a:pPr>
            <a:r>
              <a:rPr lang="en-US" sz="4000" b="1" dirty="0">
                <a:solidFill>
                  <a:srgbClr val="0047AB"/>
                </a:solidFill>
                <a:latin typeface="IBM Plex Sans KR" pitchFamily="34" charset="0"/>
                <a:ea typeface="IBM Plex Sans KR" pitchFamily="34" charset="-122"/>
                <a:cs typeface="IBM Plex Sans KR" pitchFamily="34" charset="-120"/>
              </a:rPr>
              <a:t>3주</a:t>
            </a:r>
            <a:endParaRPr lang="en-US" sz="4000" dirty="0"/>
          </a:p>
        </p:txBody>
      </p:sp>
      <p:sp>
        <p:nvSpPr>
          <p:cNvPr id="15" name="Text 12"/>
          <p:cNvSpPr/>
          <p:nvPr/>
        </p:nvSpPr>
        <p:spPr>
          <a:xfrm>
            <a:off x="8458200" y="2276856"/>
            <a:ext cx="3108960" cy="292608"/>
          </a:xfrm>
          <a:prstGeom prst="rect">
            <a:avLst/>
          </a:prstGeom>
          <a:noFill/>
          <a:ln/>
        </p:spPr>
        <p:txBody>
          <a:bodyPr wrap="square" lIns="0" tIns="0" rIns="0" bIns="0" rtlCol="0" anchor="ctr"/>
          <a:lstStyle/>
          <a:p>
            <a:pPr indent="0" marL="0">
              <a:buNone/>
            </a:pPr>
            <a:r>
              <a:rPr lang="en-US" sz="1350" b="1" dirty="0">
                <a:solidFill>
                  <a:srgbClr val="111111"/>
                </a:solidFill>
                <a:latin typeface="IBM Plex Sans KR" pitchFamily="34" charset="0"/>
                <a:ea typeface="IBM Plex Sans KR" pitchFamily="34" charset="-122"/>
                <a:cs typeface="IBM Plex Sans KR" pitchFamily="34" charset="-120"/>
              </a:rPr>
              <a:t>기획 → 배포</a:t>
            </a:r>
            <a:endParaRPr lang="en-US" sz="1350" dirty="0"/>
          </a:p>
        </p:txBody>
      </p:sp>
      <p:sp>
        <p:nvSpPr>
          <p:cNvPr id="16" name="Text 13"/>
          <p:cNvSpPr/>
          <p:nvPr/>
        </p:nvSpPr>
        <p:spPr>
          <a:xfrm>
            <a:off x="8458200" y="2606040"/>
            <a:ext cx="3200400" cy="310896"/>
          </a:xfrm>
          <a:prstGeom prst="rect">
            <a:avLst/>
          </a:prstGeom>
          <a:noFill/>
          <a:ln/>
        </p:spPr>
        <p:txBody>
          <a:bodyPr wrap="square" lIns="0" tIns="0" rIns="0" bIns="0" rtlCol="0" anchor="ctr"/>
          <a:lstStyle/>
          <a:p>
            <a:pPr indent="0" marL="0">
              <a:buNone/>
            </a:pPr>
            <a:r>
              <a:rPr lang="en-US" sz="1050" dirty="0">
                <a:solidFill>
                  <a:srgbClr val="888888"/>
                </a:solidFill>
                <a:latin typeface="IBM Plex Sans KR" pitchFamily="34" charset="0"/>
                <a:ea typeface="IBM Plex Sans KR" pitchFamily="34" charset="-122"/>
                <a:cs typeface="IBM Plex Sans KR" pitchFamily="34" charset="-120"/>
              </a:rPr>
              <a:t>명세서 두 장에서 실서비스까지</a:t>
            </a:r>
            <a:endParaRPr lang="en-US" sz="1050" dirty="0"/>
          </a:p>
        </p:txBody>
      </p:sp>
      <p:sp>
        <p:nvSpPr>
          <p:cNvPr id="17" name="Text 14"/>
          <p:cNvSpPr/>
          <p:nvPr/>
        </p:nvSpPr>
        <p:spPr>
          <a:xfrm>
            <a:off x="6446520" y="3291840"/>
            <a:ext cx="1920240" cy="731520"/>
          </a:xfrm>
          <a:prstGeom prst="rect">
            <a:avLst/>
          </a:prstGeom>
          <a:noFill/>
          <a:ln/>
        </p:spPr>
        <p:txBody>
          <a:bodyPr wrap="square" lIns="0" tIns="0" rIns="0" bIns="0" rtlCol="0" anchor="ctr"/>
          <a:lstStyle/>
          <a:p>
            <a:pPr indent="0" marL="0">
              <a:buNone/>
            </a:pPr>
            <a:r>
              <a:rPr lang="en-US" sz="4000" b="1" dirty="0">
                <a:solidFill>
                  <a:srgbClr val="0047AB"/>
                </a:solidFill>
                <a:latin typeface="IBM Plex Sans KR" pitchFamily="34" charset="0"/>
                <a:ea typeface="IBM Plex Sans KR" pitchFamily="34" charset="-122"/>
                <a:cs typeface="IBM Plex Sans KR" pitchFamily="34" charset="-120"/>
              </a:rPr>
              <a:t>0</a:t>
            </a:r>
            <a:endParaRPr lang="en-US" sz="4000" dirty="0"/>
          </a:p>
        </p:txBody>
      </p:sp>
      <p:sp>
        <p:nvSpPr>
          <p:cNvPr id="18" name="Text 15"/>
          <p:cNvSpPr/>
          <p:nvPr/>
        </p:nvSpPr>
        <p:spPr>
          <a:xfrm>
            <a:off x="8458200" y="3419856"/>
            <a:ext cx="3108960" cy="292608"/>
          </a:xfrm>
          <a:prstGeom prst="rect">
            <a:avLst/>
          </a:prstGeom>
          <a:noFill/>
          <a:ln/>
        </p:spPr>
        <p:txBody>
          <a:bodyPr wrap="square" lIns="0" tIns="0" rIns="0" bIns="0" rtlCol="0" anchor="ctr"/>
          <a:lstStyle/>
          <a:p>
            <a:pPr indent="0" marL="0">
              <a:buNone/>
            </a:pPr>
            <a:r>
              <a:rPr lang="en-US" sz="1350" b="1" dirty="0">
                <a:solidFill>
                  <a:srgbClr val="111111"/>
                </a:solidFill>
                <a:latin typeface="IBM Plex Sans KR" pitchFamily="34" charset="0"/>
                <a:ea typeface="IBM Plex Sans KR" pitchFamily="34" charset="-122"/>
                <a:cs typeface="IBM Plex Sans KR" pitchFamily="34" charset="-120"/>
              </a:rPr>
              <a:t>강제 가입</a:t>
            </a:r>
            <a:endParaRPr lang="en-US" sz="1350" dirty="0"/>
          </a:p>
        </p:txBody>
      </p:sp>
      <p:sp>
        <p:nvSpPr>
          <p:cNvPr id="19" name="Text 16"/>
          <p:cNvSpPr/>
          <p:nvPr/>
        </p:nvSpPr>
        <p:spPr>
          <a:xfrm>
            <a:off x="8458200" y="3749040"/>
            <a:ext cx="3200400" cy="310896"/>
          </a:xfrm>
          <a:prstGeom prst="rect">
            <a:avLst/>
          </a:prstGeom>
          <a:noFill/>
          <a:ln/>
        </p:spPr>
        <p:txBody>
          <a:bodyPr wrap="square" lIns="0" tIns="0" rIns="0" bIns="0" rtlCol="0" anchor="ctr"/>
          <a:lstStyle/>
          <a:p>
            <a:pPr indent="0" marL="0">
              <a:buNone/>
            </a:pPr>
            <a:r>
              <a:rPr lang="en-US" sz="1050" dirty="0">
                <a:solidFill>
                  <a:srgbClr val="888888"/>
                </a:solidFill>
                <a:latin typeface="IBM Plex Sans KR" pitchFamily="34" charset="0"/>
                <a:ea typeface="IBM Plex Sans KR" pitchFamily="34" charset="-122"/>
                <a:cs typeface="IBM Plex Sans KR" pitchFamily="34" charset="-120"/>
              </a:rPr>
              <a:t>로그인은 찜 · 내 음료에서만 묻는다</a:t>
            </a:r>
            <a:endParaRPr lang="en-US" sz="1050" dirty="0"/>
          </a:p>
        </p:txBody>
      </p:sp>
      <p:sp>
        <p:nvSpPr>
          <p:cNvPr id="20" name="Shape 17"/>
          <p:cNvSpPr/>
          <p:nvPr/>
        </p:nvSpPr>
        <p:spPr>
          <a:xfrm>
            <a:off x="6172200" y="2148840"/>
            <a:ext cx="0" cy="2103120"/>
          </a:xfrm>
          <a:prstGeom prst="line">
            <a:avLst/>
          </a:prstGeom>
          <a:noFill/>
          <a:ln w="12700">
            <a:solidFill>
              <a:srgbClr val="DDDDDD"/>
            </a:solidFill>
            <a:prstDash val="solid"/>
          </a:ln>
        </p:spPr>
      </p:sp>
      <p:sp>
        <p:nvSpPr>
          <p:cNvPr id="21" name="Text 18"/>
          <p:cNvSpPr/>
          <p:nvPr/>
        </p:nvSpPr>
        <p:spPr>
          <a:xfrm>
            <a:off x="685800" y="4892040"/>
            <a:ext cx="10515600" cy="365760"/>
          </a:xfrm>
          <a:prstGeom prst="rect">
            <a:avLst/>
          </a:prstGeom>
          <a:noFill/>
          <a:ln/>
        </p:spPr>
        <p:txBody>
          <a:bodyPr wrap="square" lIns="0" tIns="0" rIns="0" bIns="0" rtlCol="0" anchor="ctr"/>
          <a:lstStyle/>
          <a:p>
            <a:pPr indent="0" marL="0">
              <a:buNone/>
            </a:pPr>
            <a:r>
              <a:rPr lang="en-US" sz="1200" spc="100" kern="0" dirty="0">
                <a:solidFill>
                  <a:srgbClr val="0047AB"/>
                </a:solidFill>
                <a:latin typeface="Consolas" pitchFamily="34" charset="0"/>
                <a:ea typeface="Consolas" pitchFamily="34" charset="-122"/>
                <a:cs typeface="Consolas" pitchFamily="34" charset="-120"/>
              </a:rPr>
              <a:t>Must 6개는 모두 들어갔고, Won’t 9개는 끝까지 넣지 않았다</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0047AB"/>
          </a:solidFill>
          <a:ln/>
        </p:spPr>
      </p:sp>
      <p:sp>
        <p:nvSpPr>
          <p:cNvPr id="3" name="Text 1"/>
          <p:cNvSpPr/>
          <p:nvPr/>
        </p:nvSpPr>
        <p:spPr>
          <a:xfrm>
            <a:off x="685800" y="6446520"/>
            <a:ext cx="5029200" cy="274320"/>
          </a:xfrm>
          <a:prstGeom prst="rect">
            <a:avLst/>
          </a:prstGeom>
          <a:noFill/>
          <a:ln/>
        </p:spPr>
        <p:txBody>
          <a:bodyPr wrap="square" lIns="0" tIns="0" rIns="0" bIns="0" rtlCol="0" anchor="ctr"/>
          <a:lstStyle/>
          <a:p>
            <a:pPr indent="0" marL="0">
              <a:buNone/>
            </a:pPr>
            <a:r>
              <a:rPr lang="en-US" sz="900" spc="200" kern="0" dirty="0">
                <a:solidFill>
                  <a:srgbClr val="888888"/>
                </a:solidFill>
                <a:latin typeface="Consolas" pitchFamily="34" charset="0"/>
                <a:ea typeface="Consolas" pitchFamily="34" charset="-122"/>
                <a:cs typeface="Consolas" pitchFamily="34" charset="-120"/>
              </a:rPr>
              <a:t>abara — cafe menu map mvp</a:t>
            </a:r>
            <a:endParaRPr lang="en-US" sz="900" dirty="0"/>
          </a:p>
        </p:txBody>
      </p:sp>
      <p:sp>
        <p:nvSpPr>
          <p:cNvPr id="5" name="Text 2"/>
          <p:cNvSpPr/>
          <p:nvPr/>
        </p:nvSpPr>
        <p:spPr>
          <a:xfrm>
            <a:off x="685800" y="502920"/>
            <a:ext cx="9601200" cy="292608"/>
          </a:xfrm>
          <a:prstGeom prst="rect">
            <a:avLst/>
          </a:prstGeom>
          <a:noFill/>
          <a:ln/>
        </p:spPr>
        <p:txBody>
          <a:bodyPr wrap="square" lIns="0" tIns="0" rIns="0" bIns="0" rtlCol="0" anchor="ctr"/>
          <a:lstStyle/>
          <a:p>
            <a:pPr indent="0" marL="0">
              <a:buNone/>
            </a:pPr>
            <a:r>
              <a:rPr lang="en-US" sz="1100" spc="300" kern="0" dirty="0">
                <a:solidFill>
                  <a:srgbClr val="0047AB"/>
                </a:solidFill>
                <a:latin typeface="Consolas" pitchFamily="34" charset="0"/>
                <a:ea typeface="Consolas" pitchFamily="34" charset="-122"/>
                <a:cs typeface="Consolas" pitchFamily="34" charset="-120"/>
              </a:rPr>
              <a:t>what i learned</a:t>
            </a:r>
            <a:endParaRPr lang="en-US" sz="1100" dirty="0"/>
          </a:p>
        </p:txBody>
      </p:sp>
      <p:sp>
        <p:nvSpPr>
          <p:cNvPr id="6" name="Text 3"/>
          <p:cNvSpPr/>
          <p:nvPr/>
        </p:nvSpPr>
        <p:spPr>
          <a:xfrm>
            <a:off x="685800" y="841248"/>
            <a:ext cx="10881360" cy="640080"/>
          </a:xfrm>
          <a:prstGeom prst="rect">
            <a:avLst/>
          </a:prstGeom>
          <a:noFill/>
          <a:ln/>
        </p:spPr>
        <p:txBody>
          <a:bodyPr wrap="square" lIns="0" tIns="0" rIns="0" bIns="0" rtlCol="0" anchor="ctr"/>
          <a:lstStyle/>
          <a:p>
            <a:pPr indent="0" marL="0">
              <a:buNone/>
            </a:pPr>
            <a:r>
              <a:rPr lang="en-US" sz="2800" b="1" dirty="0">
                <a:solidFill>
                  <a:srgbClr val="111111"/>
                </a:solidFill>
                <a:latin typeface="IBM Plex Sans KR" pitchFamily="34" charset="0"/>
                <a:ea typeface="IBM Plex Sans KR" pitchFamily="34" charset="-122"/>
                <a:cs typeface="IBM Plex Sans KR" pitchFamily="34" charset="-120"/>
              </a:rPr>
              <a:t>배운 점</a:t>
            </a:r>
            <a:endParaRPr lang="en-US" sz="2800" dirty="0"/>
          </a:p>
        </p:txBody>
      </p:sp>
      <p:sp>
        <p:nvSpPr>
          <p:cNvPr id="7" name="Shape 4"/>
          <p:cNvSpPr/>
          <p:nvPr/>
        </p:nvSpPr>
        <p:spPr>
          <a:xfrm>
            <a:off x="685800" y="1627632"/>
            <a:ext cx="10863072" cy="0"/>
          </a:xfrm>
          <a:prstGeom prst="line">
            <a:avLst/>
          </a:prstGeom>
          <a:noFill/>
          <a:ln w="12700">
            <a:solidFill>
              <a:srgbClr val="DDDDDD"/>
            </a:solidFill>
            <a:prstDash val="solid"/>
          </a:ln>
        </p:spPr>
      </p:sp>
      <p:sp>
        <p:nvSpPr>
          <p:cNvPr id="8" name="Shape 5"/>
          <p:cNvSpPr/>
          <p:nvPr/>
        </p:nvSpPr>
        <p:spPr>
          <a:xfrm>
            <a:off x="685800" y="2103120"/>
            <a:ext cx="3401568" cy="1965960"/>
          </a:xfrm>
          <a:prstGeom prst="rect">
            <a:avLst/>
          </a:prstGeom>
          <a:solidFill>
            <a:srgbClr val="F5F7FA"/>
          </a:solidFill>
          <a:ln w="12700">
            <a:solidFill>
              <a:srgbClr val="DDDDDD"/>
            </a:solidFill>
            <a:prstDash val="solid"/>
          </a:ln>
        </p:spPr>
      </p:sp>
      <p:sp>
        <p:nvSpPr>
          <p:cNvPr id="9" name="Text 6"/>
          <p:cNvSpPr/>
          <p:nvPr/>
        </p:nvSpPr>
        <p:spPr>
          <a:xfrm>
            <a:off x="886968" y="2267712"/>
            <a:ext cx="914400" cy="256032"/>
          </a:xfrm>
          <a:prstGeom prst="rect">
            <a:avLst/>
          </a:prstGeom>
          <a:noFill/>
          <a:ln/>
        </p:spPr>
        <p:txBody>
          <a:bodyPr wrap="square" lIns="0" tIns="0" rIns="0" bIns="0" rtlCol="0" anchor="ctr"/>
          <a:lstStyle/>
          <a:p>
            <a:pPr indent="0" marL="0">
              <a:buNone/>
            </a:pPr>
            <a:r>
              <a:rPr lang="en-US" sz="1050" spc="200" kern="0" dirty="0">
                <a:solidFill>
                  <a:srgbClr val="0047AB"/>
                </a:solidFill>
                <a:latin typeface="Consolas" pitchFamily="34" charset="0"/>
                <a:ea typeface="Consolas" pitchFamily="34" charset="-122"/>
                <a:cs typeface="Consolas" pitchFamily="34" charset="-120"/>
              </a:rPr>
              <a:t>scope</a:t>
            </a:r>
            <a:endParaRPr lang="en-US" sz="1050" dirty="0"/>
          </a:p>
        </p:txBody>
      </p:sp>
      <p:pic>
        <p:nvPicPr>
          <p:cNvPr id="10" name="Image 0" descr="icons/filter.png">    </p:cNvPr>
          <p:cNvPicPr>
            <a:picLocks noChangeAspect="1"/>
          </p:cNvPicPr>
          <p:nvPr/>
        </p:nvPicPr>
        <p:blipFill>
          <a:blip r:embed="rId1"/>
          <a:stretch>
            <a:fillRect/>
          </a:stretch>
        </p:blipFill>
        <p:spPr>
          <a:xfrm>
            <a:off x="3575304" y="2267712"/>
            <a:ext cx="292608" cy="292608"/>
          </a:xfrm>
          <a:prstGeom prst="rect">
            <a:avLst/>
          </a:prstGeom>
        </p:spPr>
      </p:pic>
      <p:sp>
        <p:nvSpPr>
          <p:cNvPr id="11" name="Text 7"/>
          <p:cNvSpPr/>
          <p:nvPr/>
        </p:nvSpPr>
        <p:spPr>
          <a:xfrm>
            <a:off x="886968" y="2578608"/>
            <a:ext cx="2944368" cy="329184"/>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안 할 것을 먼저 적었다</a:t>
            </a:r>
            <a:endParaRPr lang="en-US" sz="1500" dirty="0"/>
          </a:p>
        </p:txBody>
      </p:sp>
      <p:sp>
        <p:nvSpPr>
          <p:cNvPr id="12" name="Text 8"/>
          <p:cNvSpPr/>
          <p:nvPr/>
        </p:nvSpPr>
        <p:spPr>
          <a:xfrm>
            <a:off x="886968" y="2962656"/>
            <a:ext cx="2999232" cy="960120"/>
          </a:xfrm>
          <a:prstGeom prst="rect">
            <a:avLst/>
          </a:prstGeom>
          <a:noFill/>
          <a:ln/>
        </p:spPr>
        <p:txBody>
          <a:bodyPr wrap="square" lIns="0" tIns="0" rIns="0" bIns="0" rtlCol="0" anchor="t"/>
          <a:lstStyle/>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Won’t 목록을 아홉 개 적고 나서야</a:t>
            </a:r>
            <a:endParaRPr lang="en-US" sz="1100" dirty="0"/>
          </a:p>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3주 안에 들어왔다.</a:t>
            </a:r>
            <a:endParaRPr lang="en-US" sz="1100" dirty="0"/>
          </a:p>
        </p:txBody>
      </p:sp>
      <p:sp>
        <p:nvSpPr>
          <p:cNvPr id="13" name="Shape 9"/>
          <p:cNvSpPr/>
          <p:nvPr/>
        </p:nvSpPr>
        <p:spPr>
          <a:xfrm>
            <a:off x="4306824" y="2103120"/>
            <a:ext cx="3401568" cy="1965960"/>
          </a:xfrm>
          <a:prstGeom prst="rect">
            <a:avLst/>
          </a:prstGeom>
          <a:solidFill>
            <a:srgbClr val="F5F7FA"/>
          </a:solidFill>
          <a:ln w="12700">
            <a:solidFill>
              <a:srgbClr val="DDDDDD"/>
            </a:solidFill>
            <a:prstDash val="solid"/>
          </a:ln>
        </p:spPr>
      </p:sp>
      <p:sp>
        <p:nvSpPr>
          <p:cNvPr id="14" name="Text 10"/>
          <p:cNvSpPr/>
          <p:nvPr/>
        </p:nvSpPr>
        <p:spPr>
          <a:xfrm>
            <a:off x="4507992" y="2267712"/>
            <a:ext cx="914400" cy="256032"/>
          </a:xfrm>
          <a:prstGeom prst="rect">
            <a:avLst/>
          </a:prstGeom>
          <a:noFill/>
          <a:ln/>
        </p:spPr>
        <p:txBody>
          <a:bodyPr wrap="square" lIns="0" tIns="0" rIns="0" bIns="0" rtlCol="0" anchor="ctr"/>
          <a:lstStyle/>
          <a:p>
            <a:pPr indent="0" marL="0">
              <a:buNone/>
            </a:pPr>
            <a:r>
              <a:rPr lang="en-US" sz="1050" spc="200" kern="0" dirty="0">
                <a:solidFill>
                  <a:srgbClr val="0047AB"/>
                </a:solidFill>
                <a:latin typeface="Consolas" pitchFamily="34" charset="0"/>
                <a:ea typeface="Consolas" pitchFamily="34" charset="-122"/>
                <a:cs typeface="Consolas" pitchFamily="34" charset="-120"/>
              </a:rPr>
              <a:t>ux</a:t>
            </a:r>
            <a:endParaRPr lang="en-US" sz="1050" dirty="0"/>
          </a:p>
        </p:txBody>
      </p:sp>
      <p:pic>
        <p:nvPicPr>
          <p:cNvPr id="15" name="Image 1" descr="icons/hand.png">    </p:cNvPr>
          <p:cNvPicPr>
            <a:picLocks noChangeAspect="1"/>
          </p:cNvPicPr>
          <p:nvPr/>
        </p:nvPicPr>
        <p:blipFill>
          <a:blip r:embed="rId2"/>
          <a:stretch>
            <a:fillRect/>
          </a:stretch>
        </p:blipFill>
        <p:spPr>
          <a:xfrm>
            <a:off x="7196328" y="2267712"/>
            <a:ext cx="292608" cy="292608"/>
          </a:xfrm>
          <a:prstGeom prst="rect">
            <a:avLst/>
          </a:prstGeom>
        </p:spPr>
      </p:pic>
      <p:sp>
        <p:nvSpPr>
          <p:cNvPr id="16" name="Text 11"/>
          <p:cNvSpPr/>
          <p:nvPr/>
        </p:nvSpPr>
        <p:spPr>
          <a:xfrm>
            <a:off x="4507992" y="2578608"/>
            <a:ext cx="2944368" cy="329184"/>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권한은 버튼 뒤에</a:t>
            </a:r>
            <a:endParaRPr lang="en-US" sz="1500" dirty="0"/>
          </a:p>
        </p:txBody>
      </p:sp>
      <p:sp>
        <p:nvSpPr>
          <p:cNvPr id="17" name="Text 12"/>
          <p:cNvSpPr/>
          <p:nvPr/>
        </p:nvSpPr>
        <p:spPr>
          <a:xfrm>
            <a:off x="4507992" y="2962656"/>
            <a:ext cx="2999232" cy="960120"/>
          </a:xfrm>
          <a:prstGeom prst="rect">
            <a:avLst/>
          </a:prstGeom>
          <a:noFill/>
          <a:ln/>
        </p:spPr>
        <p:txBody>
          <a:bodyPr wrap="square" lIns="0" tIns="0" rIns="0" bIns="0" rtlCol="0" anchor="t"/>
          <a:lstStyle/>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묻는 순간 끈다.</a:t>
            </a:r>
            <a:endParaRPr lang="en-US" sz="1100" dirty="0"/>
          </a:p>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거절해도 동작하게 만들었다.</a:t>
            </a:r>
            <a:endParaRPr lang="en-US" sz="1100" dirty="0"/>
          </a:p>
        </p:txBody>
      </p:sp>
      <p:sp>
        <p:nvSpPr>
          <p:cNvPr id="18" name="Shape 13"/>
          <p:cNvSpPr/>
          <p:nvPr/>
        </p:nvSpPr>
        <p:spPr>
          <a:xfrm>
            <a:off x="7927848" y="2103120"/>
            <a:ext cx="3401568" cy="1965960"/>
          </a:xfrm>
          <a:prstGeom prst="rect">
            <a:avLst/>
          </a:prstGeom>
          <a:solidFill>
            <a:srgbClr val="F5F7FA"/>
          </a:solidFill>
          <a:ln w="12700">
            <a:solidFill>
              <a:srgbClr val="DDDDDD"/>
            </a:solidFill>
            <a:prstDash val="solid"/>
          </a:ln>
        </p:spPr>
      </p:sp>
      <p:sp>
        <p:nvSpPr>
          <p:cNvPr id="19" name="Text 14"/>
          <p:cNvSpPr/>
          <p:nvPr/>
        </p:nvSpPr>
        <p:spPr>
          <a:xfrm>
            <a:off x="8129016" y="2267712"/>
            <a:ext cx="914400" cy="256032"/>
          </a:xfrm>
          <a:prstGeom prst="rect">
            <a:avLst/>
          </a:prstGeom>
          <a:noFill/>
          <a:ln/>
        </p:spPr>
        <p:txBody>
          <a:bodyPr wrap="square" lIns="0" tIns="0" rIns="0" bIns="0" rtlCol="0" anchor="ctr"/>
          <a:lstStyle/>
          <a:p>
            <a:pPr indent="0" marL="0">
              <a:buNone/>
            </a:pPr>
            <a:r>
              <a:rPr lang="en-US" sz="1050" spc="200" kern="0" dirty="0">
                <a:solidFill>
                  <a:srgbClr val="0047AB"/>
                </a:solidFill>
                <a:latin typeface="Consolas" pitchFamily="34" charset="0"/>
                <a:ea typeface="Consolas" pitchFamily="34" charset="-122"/>
                <a:cs typeface="Consolas" pitchFamily="34" charset="-120"/>
              </a:rPr>
              <a:t>data</a:t>
            </a:r>
            <a:endParaRPr lang="en-US" sz="1050" dirty="0"/>
          </a:p>
        </p:txBody>
      </p:sp>
      <p:pic>
        <p:nvPicPr>
          <p:cNvPr id="20" name="Image 2" descr="icons/layers.png">    </p:cNvPr>
          <p:cNvPicPr>
            <a:picLocks noChangeAspect="1"/>
          </p:cNvPicPr>
          <p:nvPr/>
        </p:nvPicPr>
        <p:blipFill>
          <a:blip r:embed="rId3"/>
          <a:stretch>
            <a:fillRect/>
          </a:stretch>
        </p:blipFill>
        <p:spPr>
          <a:xfrm>
            <a:off x="10817352" y="2267712"/>
            <a:ext cx="292608" cy="292608"/>
          </a:xfrm>
          <a:prstGeom prst="rect">
            <a:avLst/>
          </a:prstGeom>
        </p:spPr>
      </p:pic>
      <p:sp>
        <p:nvSpPr>
          <p:cNvPr id="21" name="Text 15"/>
          <p:cNvSpPr/>
          <p:nvPr/>
        </p:nvSpPr>
        <p:spPr>
          <a:xfrm>
            <a:off x="8129016" y="2578608"/>
            <a:ext cx="2944368" cy="329184"/>
          </a:xfrm>
          <a:prstGeom prst="rect">
            <a:avLst/>
          </a:prstGeom>
          <a:noFill/>
          <a:ln/>
        </p:spPr>
        <p:txBody>
          <a:bodyPr wrap="square" lIns="0" tIns="0" rIns="0" bIns="0" rtlCol="0" anchor="ctr"/>
          <a:lstStyle/>
          <a:p>
            <a:pPr indent="0" marL="0">
              <a:buNone/>
            </a:pPr>
            <a:r>
              <a:rPr lang="en-US" sz="1500" b="1" dirty="0">
                <a:solidFill>
                  <a:srgbClr val="111111"/>
                </a:solidFill>
                <a:latin typeface="IBM Plex Sans KR" pitchFamily="34" charset="0"/>
                <a:ea typeface="IBM Plex Sans KR" pitchFamily="34" charset="-122"/>
                <a:cs typeface="IBM Plex Sans KR" pitchFamily="34" charset="-120"/>
              </a:rPr>
              <a:t>JSON으로 먼저</a:t>
            </a:r>
            <a:endParaRPr lang="en-US" sz="1500" dirty="0"/>
          </a:p>
        </p:txBody>
      </p:sp>
      <p:sp>
        <p:nvSpPr>
          <p:cNvPr id="22" name="Text 16"/>
          <p:cNvSpPr/>
          <p:nvPr/>
        </p:nvSpPr>
        <p:spPr>
          <a:xfrm>
            <a:off x="8129016" y="2962656"/>
            <a:ext cx="2999232" cy="960120"/>
          </a:xfrm>
          <a:prstGeom prst="rect">
            <a:avLst/>
          </a:prstGeom>
          <a:noFill/>
          <a:ln/>
        </p:spPr>
        <p:txBody>
          <a:bodyPr wrap="square" lIns="0" tIns="0" rIns="0" bIns="0" rtlCol="0" anchor="t"/>
          <a:lstStyle/>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카페는 로컬 JSON, 사람만 Firestore.</a:t>
            </a:r>
            <a:endParaRPr lang="en-US" sz="1100" dirty="0"/>
          </a:p>
          <a:p>
            <a:pPr indent="0" marL="0">
              <a:lnSpc>
                <a:spcPct val="115000"/>
              </a:lnSpc>
              <a:buNone/>
            </a:pPr>
            <a:r>
              <a:rPr lang="en-US" sz="1100" dirty="0">
                <a:solidFill>
                  <a:srgbClr val="888888"/>
                </a:solidFill>
                <a:latin typeface="IBM Plex Sans KR" pitchFamily="34" charset="0"/>
                <a:ea typeface="IBM Plex Sans KR" pitchFamily="34" charset="-122"/>
                <a:cs typeface="IBM Plex Sans KR" pitchFamily="34" charset="-120"/>
              </a:rPr>
              <a:t>옮기는 건 필요해질 때.</a:t>
            </a:r>
            <a:endParaRPr lang="en-US" sz="1100" dirty="0"/>
          </a:p>
        </p:txBody>
      </p:sp>
      <p:sp>
        <p:nvSpPr>
          <p:cNvPr id="23" name="Text 17"/>
          <p:cNvSpPr/>
          <p:nvPr/>
        </p:nvSpPr>
        <p:spPr>
          <a:xfrm>
            <a:off x="685800" y="4617720"/>
            <a:ext cx="10515600" cy="411480"/>
          </a:xfrm>
          <a:prstGeom prst="rect">
            <a:avLst/>
          </a:prstGeom>
          <a:noFill/>
          <a:ln/>
        </p:spPr>
        <p:txBody>
          <a:bodyPr wrap="square" lIns="0" tIns="0" rIns="0" bIns="0" rtlCol="0" anchor="ctr"/>
          <a:lstStyle/>
          <a:p>
            <a:pPr indent="0" marL="0">
              <a:buNone/>
            </a:pPr>
            <a:r>
              <a:rPr lang="en-US" sz="1700" b="1" dirty="0">
                <a:solidFill>
                  <a:srgbClr val="0047AB"/>
                </a:solidFill>
                <a:latin typeface="IBM Plex Sans KR" pitchFamily="34" charset="0"/>
                <a:ea typeface="IBM Plex Sans KR" pitchFamily="34" charset="-122"/>
                <a:cs typeface="IBM Plex Sans KR" pitchFamily="34" charset="-120"/>
              </a:rPr>
              <a:t>기능을 줄인 만큼, 남은 기능이 끝까지 동작했다</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0047AB"/>
          </a:solidFill>
          <a:ln/>
        </p:spPr>
      </p:sp>
      <p:sp>
        <p:nvSpPr>
          <p:cNvPr id="3" name="Text 1"/>
          <p:cNvSpPr/>
          <p:nvPr/>
        </p:nvSpPr>
        <p:spPr>
          <a:xfrm>
            <a:off x="685800" y="6446520"/>
            <a:ext cx="5029200" cy="274320"/>
          </a:xfrm>
          <a:prstGeom prst="rect">
            <a:avLst/>
          </a:prstGeom>
          <a:noFill/>
          <a:ln/>
        </p:spPr>
        <p:txBody>
          <a:bodyPr wrap="square" lIns="0" tIns="0" rIns="0" bIns="0" rtlCol="0" anchor="ctr"/>
          <a:lstStyle/>
          <a:p>
            <a:pPr indent="0" marL="0">
              <a:buNone/>
            </a:pPr>
            <a:r>
              <a:rPr lang="en-US" sz="900" spc="200" kern="0" dirty="0">
                <a:solidFill>
                  <a:srgbClr val="888888"/>
                </a:solidFill>
                <a:latin typeface="Consolas" pitchFamily="34" charset="0"/>
                <a:ea typeface="Consolas" pitchFamily="34" charset="-122"/>
                <a:cs typeface="Consolas" pitchFamily="34" charset="-120"/>
              </a:rPr>
              <a:t>abara — cafe menu map mvp</a:t>
            </a:r>
            <a:endParaRPr lang="en-US" sz="900" dirty="0"/>
          </a:p>
        </p:txBody>
      </p:sp>
      <p:sp>
        <p:nvSpPr>
          <p:cNvPr id="5" name="Text 2"/>
          <p:cNvSpPr/>
          <p:nvPr/>
        </p:nvSpPr>
        <p:spPr>
          <a:xfrm>
            <a:off x="685800" y="502920"/>
            <a:ext cx="9601200" cy="292608"/>
          </a:xfrm>
          <a:prstGeom prst="rect">
            <a:avLst/>
          </a:prstGeom>
          <a:noFill/>
          <a:ln/>
        </p:spPr>
        <p:txBody>
          <a:bodyPr wrap="square" lIns="0" tIns="0" rIns="0" bIns="0" rtlCol="0" anchor="ctr"/>
          <a:lstStyle/>
          <a:p>
            <a:pPr indent="0" marL="0">
              <a:buNone/>
            </a:pPr>
            <a:r>
              <a:rPr lang="en-US" sz="1100" spc="300" kern="0" dirty="0">
                <a:solidFill>
                  <a:srgbClr val="0047AB"/>
                </a:solidFill>
                <a:latin typeface="Consolas" pitchFamily="34" charset="0"/>
                <a:ea typeface="Consolas" pitchFamily="34" charset="-122"/>
                <a:cs typeface="Consolas" pitchFamily="34" charset="-120"/>
              </a:rPr>
              <a:t>next</a:t>
            </a:r>
            <a:endParaRPr lang="en-US" sz="1100" dirty="0"/>
          </a:p>
        </p:txBody>
      </p:sp>
      <p:sp>
        <p:nvSpPr>
          <p:cNvPr id="6" name="Text 3"/>
          <p:cNvSpPr/>
          <p:nvPr/>
        </p:nvSpPr>
        <p:spPr>
          <a:xfrm>
            <a:off x="685800" y="841248"/>
            <a:ext cx="10881360" cy="640080"/>
          </a:xfrm>
          <a:prstGeom prst="rect">
            <a:avLst/>
          </a:prstGeom>
          <a:noFill/>
          <a:ln/>
        </p:spPr>
        <p:txBody>
          <a:bodyPr wrap="square" lIns="0" tIns="0" rIns="0" bIns="0" rtlCol="0" anchor="ctr"/>
          <a:lstStyle/>
          <a:p>
            <a:pPr indent="0" marL="0">
              <a:buNone/>
            </a:pPr>
            <a:r>
              <a:rPr lang="en-US" sz="2800" b="1" dirty="0">
                <a:solidFill>
                  <a:srgbClr val="111111"/>
                </a:solidFill>
                <a:latin typeface="IBM Plex Sans KR" pitchFamily="34" charset="0"/>
                <a:ea typeface="IBM Plex Sans KR" pitchFamily="34" charset="-122"/>
                <a:cs typeface="IBM Plex Sans KR" pitchFamily="34" charset="-120"/>
              </a:rPr>
              <a:t>다음 계획</a:t>
            </a:r>
            <a:endParaRPr lang="en-US" sz="2800" dirty="0"/>
          </a:p>
        </p:txBody>
      </p:sp>
      <p:sp>
        <p:nvSpPr>
          <p:cNvPr id="7" name="Shape 4"/>
          <p:cNvSpPr/>
          <p:nvPr/>
        </p:nvSpPr>
        <p:spPr>
          <a:xfrm>
            <a:off x="685800" y="1627632"/>
            <a:ext cx="10863072" cy="0"/>
          </a:xfrm>
          <a:prstGeom prst="line">
            <a:avLst/>
          </a:prstGeom>
          <a:noFill/>
          <a:ln w="12700">
            <a:solidFill>
              <a:srgbClr val="DDDDDD"/>
            </a:solidFill>
            <a:prstDash val="solid"/>
          </a:ln>
        </p:spPr>
      </p:sp>
      <p:pic>
        <p:nvPicPr>
          <p:cNvPr id="8" name="Image 0" descr="icons/database.png">    </p:cNvPr>
          <p:cNvPicPr>
            <a:picLocks noChangeAspect="1"/>
          </p:cNvPicPr>
          <p:nvPr/>
        </p:nvPicPr>
        <p:blipFill>
          <a:blip r:embed="rId1"/>
          <a:stretch>
            <a:fillRect/>
          </a:stretch>
        </p:blipFill>
        <p:spPr>
          <a:xfrm>
            <a:off x="685800" y="2029968"/>
            <a:ext cx="292608" cy="292608"/>
          </a:xfrm>
          <a:prstGeom prst="rect">
            <a:avLst/>
          </a:prstGeom>
        </p:spPr>
      </p:pic>
      <p:sp>
        <p:nvSpPr>
          <p:cNvPr id="9" name="Text 5"/>
          <p:cNvSpPr/>
          <p:nvPr/>
        </p:nvSpPr>
        <p:spPr>
          <a:xfrm>
            <a:off x="1097280" y="2011680"/>
            <a:ext cx="4709160" cy="347472"/>
          </a:xfrm>
          <a:prstGeom prst="rect">
            <a:avLst/>
          </a:prstGeom>
          <a:noFill/>
          <a:ln/>
        </p:spPr>
        <p:txBody>
          <a:bodyPr wrap="square" lIns="0" tIns="0" rIns="0" bIns="0" rtlCol="0" anchor="ctr"/>
          <a:lstStyle/>
          <a:p>
            <a:pPr indent="0" marL="0">
              <a:buNone/>
            </a:pPr>
            <a:r>
              <a:rPr lang="en-US" sz="1600" b="1" dirty="0">
                <a:solidFill>
                  <a:srgbClr val="111111"/>
                </a:solidFill>
                <a:latin typeface="IBM Plex Sans KR" pitchFamily="34" charset="0"/>
                <a:ea typeface="IBM Plex Sans KR" pitchFamily="34" charset="-122"/>
                <a:cs typeface="IBM Plex Sans KR" pitchFamily="34" charset="-120"/>
              </a:rPr>
              <a:t>카페 목록을 Firestore로</a:t>
            </a:r>
            <a:endParaRPr lang="en-US" sz="1600" dirty="0"/>
          </a:p>
        </p:txBody>
      </p:sp>
      <p:sp>
        <p:nvSpPr>
          <p:cNvPr id="10" name="Text 6"/>
          <p:cNvSpPr/>
          <p:nvPr/>
        </p:nvSpPr>
        <p:spPr>
          <a:xfrm>
            <a:off x="1097280" y="2377440"/>
            <a:ext cx="5943600" cy="320040"/>
          </a:xfrm>
          <a:prstGeom prst="rect">
            <a:avLst/>
          </a:prstGeom>
          <a:noFill/>
          <a:ln/>
        </p:spPr>
        <p:txBody>
          <a:bodyPr wrap="square" lIns="0" tIns="0" rIns="0" bIns="0" rtlCol="0" anchor="ctr"/>
          <a:lstStyle/>
          <a:p>
            <a:pPr indent="0" marL="0">
              <a:buNone/>
            </a:pPr>
            <a:r>
              <a:rPr lang="en-US" sz="1200" dirty="0">
                <a:solidFill>
                  <a:srgbClr val="888888"/>
                </a:solidFill>
                <a:latin typeface="IBM Plex Sans KR" pitchFamily="34" charset="0"/>
                <a:ea typeface="IBM Plex Sans KR" pitchFamily="34" charset="-122"/>
                <a:cs typeface="IBM Plex Sans KR" pitchFamily="34" charset="-120"/>
              </a:rPr>
              <a:t>공개 읽기, 클라이언트 쓰기는 막는다</a:t>
            </a:r>
            <a:endParaRPr lang="en-US" sz="1200" dirty="0"/>
          </a:p>
        </p:txBody>
      </p:sp>
      <p:sp>
        <p:nvSpPr>
          <p:cNvPr id="11" name="Shape 7"/>
          <p:cNvSpPr/>
          <p:nvPr/>
        </p:nvSpPr>
        <p:spPr>
          <a:xfrm>
            <a:off x="685800" y="2724912"/>
            <a:ext cx="6309360" cy="0"/>
          </a:xfrm>
          <a:prstGeom prst="line">
            <a:avLst/>
          </a:prstGeom>
          <a:noFill/>
          <a:ln w="12700">
            <a:solidFill>
              <a:srgbClr val="DDDDDD"/>
            </a:solidFill>
            <a:prstDash val="solid"/>
          </a:ln>
        </p:spPr>
      </p:sp>
      <p:pic>
        <p:nvPicPr>
          <p:cNvPr id="12" name="Image 1" descr="icons/image.png">    </p:cNvPr>
          <p:cNvPicPr>
            <a:picLocks noChangeAspect="1"/>
          </p:cNvPicPr>
          <p:nvPr/>
        </p:nvPicPr>
        <p:blipFill>
          <a:blip r:embed="rId2"/>
          <a:stretch>
            <a:fillRect/>
          </a:stretch>
        </p:blipFill>
        <p:spPr>
          <a:xfrm>
            <a:off x="685800" y="2871216"/>
            <a:ext cx="292608" cy="292608"/>
          </a:xfrm>
          <a:prstGeom prst="rect">
            <a:avLst/>
          </a:prstGeom>
        </p:spPr>
      </p:pic>
      <p:sp>
        <p:nvSpPr>
          <p:cNvPr id="13" name="Text 8"/>
          <p:cNvSpPr/>
          <p:nvPr/>
        </p:nvSpPr>
        <p:spPr>
          <a:xfrm>
            <a:off x="1097280" y="2852928"/>
            <a:ext cx="4709160" cy="347472"/>
          </a:xfrm>
          <a:prstGeom prst="rect">
            <a:avLst/>
          </a:prstGeom>
          <a:noFill/>
          <a:ln/>
        </p:spPr>
        <p:txBody>
          <a:bodyPr wrap="square" lIns="0" tIns="0" rIns="0" bIns="0" rtlCol="0" anchor="ctr"/>
          <a:lstStyle/>
          <a:p>
            <a:pPr indent="0" marL="0">
              <a:buNone/>
            </a:pPr>
            <a:r>
              <a:rPr lang="en-US" sz="1600" b="1" dirty="0">
                <a:solidFill>
                  <a:srgbClr val="111111"/>
                </a:solidFill>
                <a:latin typeface="IBM Plex Sans KR" pitchFamily="34" charset="0"/>
                <a:ea typeface="IBM Plex Sans KR" pitchFamily="34" charset="-122"/>
                <a:cs typeface="IBM Plex Sans KR" pitchFamily="34" charset="-120"/>
              </a:rPr>
              <a:t>지도 메뉴 사진 마커</a:t>
            </a:r>
            <a:endParaRPr lang="en-US" sz="1600" dirty="0"/>
          </a:p>
        </p:txBody>
      </p:sp>
      <p:sp>
        <p:nvSpPr>
          <p:cNvPr id="14" name="Text 9"/>
          <p:cNvSpPr/>
          <p:nvPr/>
        </p:nvSpPr>
        <p:spPr>
          <a:xfrm>
            <a:off x="1097280" y="3218688"/>
            <a:ext cx="5943600" cy="320040"/>
          </a:xfrm>
          <a:prstGeom prst="rect">
            <a:avLst/>
          </a:prstGeom>
          <a:noFill/>
          <a:ln/>
        </p:spPr>
        <p:txBody>
          <a:bodyPr wrap="square" lIns="0" tIns="0" rIns="0" bIns="0" rtlCol="0" anchor="ctr"/>
          <a:lstStyle/>
          <a:p>
            <a:pPr indent="0" marL="0">
              <a:buNone/>
            </a:pPr>
            <a:r>
              <a:rPr lang="en-US" sz="1200" dirty="0">
                <a:solidFill>
                  <a:srgbClr val="888888"/>
                </a:solidFill>
                <a:latin typeface="IBM Plex Sans KR" pitchFamily="34" charset="0"/>
                <a:ea typeface="IBM Plex Sans KR" pitchFamily="34" charset="-122"/>
                <a:cs typeface="IBM Plex Sans KR" pitchFamily="34" charset="-120"/>
              </a:rPr>
              <a:t>가까운 줌에서만 사진, 멀면 점</a:t>
            </a:r>
            <a:endParaRPr lang="en-US" sz="1200" dirty="0"/>
          </a:p>
        </p:txBody>
      </p:sp>
      <p:sp>
        <p:nvSpPr>
          <p:cNvPr id="15" name="Shape 10"/>
          <p:cNvSpPr/>
          <p:nvPr/>
        </p:nvSpPr>
        <p:spPr>
          <a:xfrm>
            <a:off x="685800" y="3566160"/>
            <a:ext cx="6309360" cy="0"/>
          </a:xfrm>
          <a:prstGeom prst="line">
            <a:avLst/>
          </a:prstGeom>
          <a:noFill/>
          <a:ln w="12700">
            <a:solidFill>
              <a:srgbClr val="DDDDDD"/>
            </a:solidFill>
            <a:prstDash val="solid"/>
          </a:ln>
        </p:spPr>
      </p:sp>
      <p:pic>
        <p:nvPicPr>
          <p:cNvPr id="16" name="Image 2" descr="icons/star.png">    </p:cNvPr>
          <p:cNvPicPr>
            <a:picLocks noChangeAspect="1"/>
          </p:cNvPicPr>
          <p:nvPr/>
        </p:nvPicPr>
        <p:blipFill>
          <a:blip r:embed="rId3"/>
          <a:stretch>
            <a:fillRect/>
          </a:stretch>
        </p:blipFill>
        <p:spPr>
          <a:xfrm>
            <a:off x="685800" y="3712464"/>
            <a:ext cx="292608" cy="292608"/>
          </a:xfrm>
          <a:prstGeom prst="rect">
            <a:avLst/>
          </a:prstGeom>
        </p:spPr>
      </p:pic>
      <p:sp>
        <p:nvSpPr>
          <p:cNvPr id="17" name="Text 11"/>
          <p:cNvSpPr/>
          <p:nvPr/>
        </p:nvSpPr>
        <p:spPr>
          <a:xfrm>
            <a:off x="1097280" y="3694176"/>
            <a:ext cx="4709160" cy="347472"/>
          </a:xfrm>
          <a:prstGeom prst="rect">
            <a:avLst/>
          </a:prstGeom>
          <a:noFill/>
          <a:ln/>
        </p:spPr>
        <p:txBody>
          <a:bodyPr wrap="square" lIns="0" tIns="0" rIns="0" bIns="0" rtlCol="0" anchor="ctr"/>
          <a:lstStyle/>
          <a:p>
            <a:pPr indent="0" marL="0">
              <a:buNone/>
            </a:pPr>
            <a:r>
              <a:rPr lang="en-US" sz="1600" b="1" dirty="0">
                <a:solidFill>
                  <a:srgbClr val="111111"/>
                </a:solidFill>
                <a:latin typeface="IBM Plex Sans KR" pitchFamily="34" charset="0"/>
                <a:ea typeface="IBM Plex Sans KR" pitchFamily="34" charset="-122"/>
                <a:cs typeface="IBM Plex Sans KR" pitchFamily="34" charset="-120"/>
              </a:rPr>
              <a:t>근거 숫자 노출</a:t>
            </a:r>
            <a:endParaRPr lang="en-US" sz="1600" dirty="0"/>
          </a:p>
        </p:txBody>
      </p:sp>
      <p:sp>
        <p:nvSpPr>
          <p:cNvPr id="18" name="Text 12"/>
          <p:cNvSpPr/>
          <p:nvPr/>
        </p:nvSpPr>
        <p:spPr>
          <a:xfrm>
            <a:off x="1097280" y="4059936"/>
            <a:ext cx="5943600" cy="320040"/>
          </a:xfrm>
          <a:prstGeom prst="rect">
            <a:avLst/>
          </a:prstGeom>
          <a:noFill/>
          <a:ln/>
        </p:spPr>
        <p:txBody>
          <a:bodyPr wrap="square" lIns="0" tIns="0" rIns="0" bIns="0" rtlCol="0" anchor="ctr"/>
          <a:lstStyle/>
          <a:p>
            <a:pPr indent="0" marL="0">
              <a:buNone/>
            </a:pPr>
            <a:r>
              <a:rPr lang="en-US" sz="1200" dirty="0">
                <a:solidFill>
                  <a:srgbClr val="888888"/>
                </a:solidFill>
                <a:latin typeface="IBM Plex Sans KR" pitchFamily="34" charset="0"/>
                <a:ea typeface="IBM Plex Sans KR" pitchFamily="34" charset="-122"/>
                <a:cs typeface="IBM Plex Sans KR" pitchFamily="34" charset="-120"/>
              </a:rPr>
              <a:t>후기에 몇 번 나온 메뉴인지 짧게</a:t>
            </a:r>
            <a:endParaRPr lang="en-US" sz="1200" dirty="0"/>
          </a:p>
        </p:txBody>
      </p:sp>
      <p:sp>
        <p:nvSpPr>
          <p:cNvPr id="19" name="Shape 13"/>
          <p:cNvSpPr/>
          <p:nvPr/>
        </p:nvSpPr>
        <p:spPr>
          <a:xfrm>
            <a:off x="7360920" y="2011680"/>
            <a:ext cx="4187952" cy="2340864"/>
          </a:xfrm>
          <a:prstGeom prst="rect">
            <a:avLst/>
          </a:prstGeom>
          <a:solidFill>
            <a:srgbClr val="F5F7FA"/>
          </a:solidFill>
          <a:ln w="12700">
            <a:solidFill>
              <a:srgbClr val="DDDDDD"/>
            </a:solidFill>
            <a:prstDash val="solid"/>
          </a:ln>
        </p:spPr>
      </p:sp>
      <p:pic>
        <p:nvPicPr>
          <p:cNvPr id="20" name="Image 3" descr="icons/rocket.png">    </p:cNvPr>
          <p:cNvPicPr>
            <a:picLocks noChangeAspect="1"/>
          </p:cNvPicPr>
          <p:nvPr/>
        </p:nvPicPr>
        <p:blipFill>
          <a:blip r:embed="rId4"/>
          <a:stretch>
            <a:fillRect/>
          </a:stretch>
        </p:blipFill>
        <p:spPr>
          <a:xfrm>
            <a:off x="7635240" y="2286000"/>
            <a:ext cx="365760" cy="365760"/>
          </a:xfrm>
          <a:prstGeom prst="rect">
            <a:avLst/>
          </a:prstGeom>
        </p:spPr>
      </p:pic>
      <p:sp>
        <p:nvSpPr>
          <p:cNvPr id="21" name="Text 14"/>
          <p:cNvSpPr/>
          <p:nvPr/>
        </p:nvSpPr>
        <p:spPr>
          <a:xfrm>
            <a:off x="7635240" y="2788920"/>
            <a:ext cx="3657600" cy="365760"/>
          </a:xfrm>
          <a:prstGeom prst="rect">
            <a:avLst/>
          </a:prstGeom>
          <a:noFill/>
          <a:ln/>
        </p:spPr>
        <p:txBody>
          <a:bodyPr wrap="square" lIns="0" tIns="0" rIns="0" bIns="0" rtlCol="0" anchor="ctr"/>
          <a:lstStyle/>
          <a:p>
            <a:pPr indent="0" marL="0">
              <a:buNone/>
            </a:pPr>
            <a:r>
              <a:rPr lang="en-US" sz="1700" b="1" dirty="0">
                <a:solidFill>
                  <a:srgbClr val="111111"/>
                </a:solidFill>
                <a:latin typeface="IBM Plex Sans KR" pitchFamily="34" charset="0"/>
                <a:ea typeface="IBM Plex Sans KR" pitchFamily="34" charset="-122"/>
                <a:cs typeface="IBM Plex Sans KR" pitchFamily="34" charset="-120"/>
              </a:rPr>
              <a:t>지금 열어 보세요</a:t>
            </a:r>
            <a:endParaRPr lang="en-US" sz="1700" dirty="0"/>
          </a:p>
        </p:txBody>
      </p:sp>
      <p:sp>
        <p:nvSpPr>
          <p:cNvPr id="22" name="Text 15">
            <a:hlinkClick r:id="rId5" tooltip="아바라 열기"/>
          </p:cNvPr>
          <p:cNvSpPr/>
          <p:nvPr/>
        </p:nvSpPr>
        <p:spPr>
          <a:xfrm>
            <a:off x="7635240" y="3246120"/>
            <a:ext cx="3749040" cy="640080"/>
          </a:xfrm>
          <a:prstGeom prst="rect">
            <a:avLst/>
          </a:prstGeom>
          <a:noFill/>
          <a:ln/>
        </p:spPr>
        <p:txBody>
          <a:bodyPr wrap="square" lIns="0" tIns="0" rIns="0" bIns="0" rtlCol="0" anchor="ctr"/>
          <a:lstStyle/>
          <a:p>
            <a:pPr indent="0" marL="0">
              <a:buNone/>
            </a:pPr>
            <a:r>
              <a:rPr lang="en-US" sz="1200" u="sng" dirty="0">
                <a:solidFill>
                  <a:srgbClr val="0047AB"/>
                </a:solidFill>
                <a:latin typeface="Consolas" pitchFamily="34" charset="0"/>
                <a:ea typeface="Consolas" pitchFamily="34" charset="-122"/>
                <a:cs typeface="Consolas" pitchFamily="34" charset="-120"/>
                <a:hlinkClick r:id="rId5" invalidUrl="" action="" tgtFrame="" tooltip="아바라 열기" history="1" highlightClick="0" endSnd="0">
                  <a:extLst>
                    <a:ext uri="{A12FA001-AC4F-418D-AE19-62706E023703}">
                      <ahyp:hlinkClr xmlns:ahyp="http://schemas.microsoft.com/office/drawing/2018/hyperlinkcolor" val="tx"/>
                    </a:ext>
                  </a:extLst>
                </a:hlinkClick>
              </a:rPr>
              <a:t>https://vanilla-latte-map.vercel.app/</a:t>
            </a:r>
            <a:endParaRPr lang="en-US" sz="1200" dirty="0"/>
          </a:p>
        </p:txBody>
      </p:sp>
      <p:sp>
        <p:nvSpPr>
          <p:cNvPr id="23" name="Text 16"/>
          <p:cNvSpPr/>
          <p:nvPr/>
        </p:nvSpPr>
        <p:spPr>
          <a:xfrm>
            <a:off x="685800" y="5029200"/>
            <a:ext cx="10515600" cy="457200"/>
          </a:xfrm>
          <a:prstGeom prst="rect">
            <a:avLst/>
          </a:prstGeom>
          <a:noFill/>
          <a:ln/>
        </p:spPr>
        <p:txBody>
          <a:bodyPr wrap="square" lIns="0" tIns="0" rIns="0" bIns="0" rtlCol="0" anchor="ctr"/>
          <a:lstStyle/>
          <a:p>
            <a:pPr indent="0" marL="0">
              <a:buNone/>
            </a:pPr>
            <a:r>
              <a:rPr lang="en-US" sz="2200" b="1" dirty="0">
                <a:solidFill>
                  <a:srgbClr val="0047AB"/>
                </a:solidFill>
                <a:latin typeface="IBM Plex Sans KR" pitchFamily="34" charset="0"/>
                <a:ea typeface="IBM Plex Sans KR" pitchFamily="34" charset="-122"/>
                <a:cs typeface="IBM Plex Sans KR" pitchFamily="34" charset="-120"/>
              </a:rPr>
              <a:t>감사합니다 — 질문 받겠습니다</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2026-08-19T00:45:31Z</dcterms:created>
  <dcterms:modified xsi:type="dcterms:W3CDTF">2026-08-19T00:45:31Z</dcterms:modified>
</cp:coreProperties>
</file>